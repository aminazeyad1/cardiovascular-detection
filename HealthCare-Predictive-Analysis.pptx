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Instrument Sans Medium"/>
      <p:regular r:id="rId15"/>
    </p:embeddedFont>
    <p:embeddedFont>
      <p:font typeface="Instrument Sans Medium"/>
      <p:regular r:id="rId16"/>
    </p:embeddedFont>
    <p:embeddedFont>
      <p:font typeface="Instrument Sans Medium"/>
      <p:regular r:id="rId17"/>
    </p:embeddedFont>
    <p:embeddedFont>
      <p:font typeface="Instrument Sans Medium"/>
      <p:regular r:id="rId18"/>
    </p:embeddedFont>
    <p:embeddedFont>
      <p:font typeface="Inter"/>
      <p:regular r:id="rId19"/>
    </p:embeddedFont>
    <p:embeddedFont>
      <p:font typeface="Inter"/>
      <p:regular r:id="rId20"/>
    </p:embeddedFont>
    <p:embeddedFont>
      <p:font typeface="Inter"/>
      <p:regular r:id="rId21"/>
    </p:embeddedFont>
    <p:embeddedFont>
      <p:font typeface="Inter"/>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719"/>
          </a:solidFill>
          <a:ln/>
        </p:spPr>
      </p:sp>
      <p:sp>
        <p:nvSpPr>
          <p:cNvPr id="3" name="Shape 1"/>
          <p:cNvSpPr/>
          <p:nvPr/>
        </p:nvSpPr>
        <p:spPr>
          <a:xfrm>
            <a:off x="0" y="0"/>
            <a:ext cx="14630400" cy="8229600"/>
          </a:xfrm>
          <a:prstGeom prst="rect">
            <a:avLst/>
          </a:prstGeom>
          <a:solidFill>
            <a:srgbClr val="242429"/>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6.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9.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821180"/>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HealthCare Predictive Analysis</a:t>
            </a:r>
            <a:endParaRPr lang="en-US" sz="4450" dirty="0"/>
          </a:p>
        </p:txBody>
      </p:sp>
      <p:sp>
        <p:nvSpPr>
          <p:cNvPr id="4" name="Text 1"/>
          <p:cNvSpPr/>
          <p:nvPr/>
        </p:nvSpPr>
        <p:spPr>
          <a:xfrm>
            <a:off x="793790" y="3578900"/>
            <a:ext cx="7556421" cy="2177415"/>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The HealthCare Predictive Analytics project focuses on developing a classification model to identify cardiovascular disease (CVD) risk in patients. Created by a team from CLS (Group CLS_CAI2_AIS4_G4), this project aims to provide data-driven insights to help healthcare professionals with patient risk detection and informed decision-making.</a:t>
            </a:r>
            <a:endParaRPr lang="en-US" sz="1750" dirty="0"/>
          </a:p>
        </p:txBody>
      </p:sp>
      <p:sp>
        <p:nvSpPr>
          <p:cNvPr id="5" name="Shape 2"/>
          <p:cNvSpPr/>
          <p:nvPr/>
        </p:nvSpPr>
        <p:spPr>
          <a:xfrm>
            <a:off x="793790" y="6028373"/>
            <a:ext cx="362903" cy="362903"/>
          </a:xfrm>
          <a:prstGeom prst="roundRect">
            <a:avLst>
              <a:gd name="adj" fmla="val 25194296"/>
            </a:avLst>
          </a:prstGeom>
          <a:noFill/>
          <a:ln w="7620">
            <a:solidFill>
              <a:srgbClr val="4D4D51"/>
            </a:solidFill>
            <a:prstDash val="solid"/>
          </a:ln>
        </p:spPr>
      </p:sp>
      <p:pic>
        <p:nvPicPr>
          <p:cNvPr id="6" name="Image 1" descr="preencoded.png">    </p:cNvPr>
          <p:cNvPicPr>
            <a:picLocks noChangeAspect="1"/>
          </p:cNvPicPr>
          <p:nvPr/>
        </p:nvPicPr>
        <p:blipFill>
          <a:blip r:embed="rId2"/>
          <a:stretch>
            <a:fillRect/>
          </a:stretch>
        </p:blipFill>
        <p:spPr>
          <a:xfrm>
            <a:off x="801410" y="6035992"/>
            <a:ext cx="347663" cy="347663"/>
          </a:xfrm>
          <a:prstGeom prst="rect">
            <a:avLst/>
          </a:prstGeom>
        </p:spPr>
      </p:pic>
      <p:sp>
        <p:nvSpPr>
          <p:cNvPr id="7" name="Text 3"/>
          <p:cNvSpPr/>
          <p:nvPr/>
        </p:nvSpPr>
        <p:spPr>
          <a:xfrm>
            <a:off x="1270040" y="6011466"/>
            <a:ext cx="2229088" cy="396835"/>
          </a:xfrm>
          <a:prstGeom prst="rect">
            <a:avLst/>
          </a:prstGeom>
          <a:noFill/>
          <a:ln/>
        </p:spPr>
        <p:txBody>
          <a:bodyPr wrap="none" lIns="0" tIns="0" rIns="0" bIns="0" rtlCol="0" anchor="t"/>
          <a:lstStyle/>
          <a:p>
            <a:pPr algn="l" indent="0" marL="0">
              <a:lnSpc>
                <a:spcPts val="3100"/>
              </a:lnSpc>
              <a:buNone/>
            </a:pPr>
            <a:r>
              <a:rPr lang="en-US" sz="2200" b="1" dirty="0">
                <a:solidFill>
                  <a:srgbClr val="C7CDD6"/>
                </a:solidFill>
                <a:latin typeface="Inter Bold" pitchFamily="34" charset="0"/>
                <a:ea typeface="Inter Bold" pitchFamily="34" charset="-122"/>
                <a:cs typeface="Inter Bold" pitchFamily="34" charset="-120"/>
              </a:rPr>
              <a:t>by Amina Zeyad</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551748"/>
          </a:xfrm>
          <a:prstGeom prst="rect">
            <a:avLst/>
          </a:prstGeom>
        </p:spPr>
      </p:pic>
      <p:sp>
        <p:nvSpPr>
          <p:cNvPr id="3" name="Text 0"/>
          <p:cNvSpPr/>
          <p:nvPr/>
        </p:nvSpPr>
        <p:spPr>
          <a:xfrm>
            <a:off x="714494" y="3276362"/>
            <a:ext cx="7499390" cy="637937"/>
          </a:xfrm>
          <a:prstGeom prst="rect">
            <a:avLst/>
          </a:prstGeom>
          <a:noFill/>
          <a:ln/>
        </p:spPr>
        <p:txBody>
          <a:bodyPr wrap="none" lIns="0" tIns="0" rIns="0" bIns="0" rtlCol="0" anchor="t"/>
          <a:lstStyle/>
          <a:p>
            <a:pPr algn="l" indent="0" marL="0">
              <a:lnSpc>
                <a:spcPts val="5000"/>
              </a:lnSpc>
              <a:buNone/>
            </a:pPr>
            <a:r>
              <a:rPr lang="en-US" sz="4000" dirty="0">
                <a:solidFill>
                  <a:srgbClr val="EFD5FA"/>
                </a:solidFill>
                <a:latin typeface="Instrument Sans Medium" pitchFamily="34" charset="0"/>
                <a:ea typeface="Instrument Sans Medium" pitchFamily="34" charset="-122"/>
                <a:cs typeface="Instrument Sans Medium" pitchFamily="34" charset="-120"/>
              </a:rPr>
              <a:t>Data Collection and Exploration</a:t>
            </a:r>
            <a:endParaRPr lang="en-US" sz="4000" dirty="0"/>
          </a:p>
        </p:txBody>
      </p:sp>
      <p:sp>
        <p:nvSpPr>
          <p:cNvPr id="4" name="Shape 1"/>
          <p:cNvSpPr/>
          <p:nvPr/>
        </p:nvSpPr>
        <p:spPr>
          <a:xfrm>
            <a:off x="714494" y="4449961"/>
            <a:ext cx="459224" cy="459224"/>
          </a:xfrm>
          <a:prstGeom prst="roundRect">
            <a:avLst>
              <a:gd name="adj" fmla="val 6668"/>
            </a:avLst>
          </a:prstGeom>
          <a:solidFill>
            <a:srgbClr val="434348"/>
          </a:solidFill>
          <a:ln/>
        </p:spPr>
      </p:sp>
      <p:pic>
        <p:nvPicPr>
          <p:cNvPr id="5" name="Image 1" descr="preencoded.png">    </p:cNvPr>
          <p:cNvPicPr>
            <a:picLocks noChangeAspect="1"/>
          </p:cNvPicPr>
          <p:nvPr/>
        </p:nvPicPr>
        <p:blipFill>
          <a:blip r:embed="rId2"/>
          <a:stretch>
            <a:fillRect/>
          </a:stretch>
        </p:blipFill>
        <p:spPr>
          <a:xfrm>
            <a:off x="790992" y="4488180"/>
            <a:ext cx="306110" cy="382667"/>
          </a:xfrm>
          <a:prstGeom prst="rect">
            <a:avLst/>
          </a:prstGeom>
        </p:spPr>
      </p:pic>
      <p:sp>
        <p:nvSpPr>
          <p:cNvPr id="6" name="Text 2"/>
          <p:cNvSpPr/>
          <p:nvPr/>
        </p:nvSpPr>
        <p:spPr>
          <a:xfrm>
            <a:off x="1377791" y="4449961"/>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C7CDD6"/>
                </a:solidFill>
                <a:latin typeface="Instrument Sans Medium" pitchFamily="34" charset="0"/>
                <a:ea typeface="Instrument Sans Medium" pitchFamily="34" charset="-122"/>
                <a:cs typeface="Instrument Sans Medium" pitchFamily="34" charset="-120"/>
              </a:rPr>
              <a:t>Dataset Overview</a:t>
            </a:r>
            <a:endParaRPr lang="en-US" sz="2000" dirty="0"/>
          </a:p>
        </p:txBody>
      </p:sp>
      <p:sp>
        <p:nvSpPr>
          <p:cNvPr id="7" name="Text 3"/>
          <p:cNvSpPr/>
          <p:nvPr/>
        </p:nvSpPr>
        <p:spPr>
          <a:xfrm>
            <a:off x="1377791" y="4891207"/>
            <a:ext cx="3601164" cy="1960245"/>
          </a:xfrm>
          <a:prstGeom prst="rect">
            <a:avLst/>
          </a:prstGeom>
          <a:noFill/>
          <a:ln/>
        </p:spPr>
        <p:txBody>
          <a:bodyPr wrap="square" lIns="0" tIns="0" rIns="0" bIns="0" rtlCol="0" anchor="t"/>
          <a:lstStyle/>
          <a:p>
            <a:pPr algn="l" indent="0" marL="0">
              <a:lnSpc>
                <a:spcPts val="2550"/>
              </a:lnSpc>
              <a:buNone/>
            </a:pPr>
            <a:r>
              <a:rPr lang="en-US" sz="1600" dirty="0">
                <a:solidFill>
                  <a:srgbClr val="C7CDD6"/>
                </a:solidFill>
                <a:latin typeface="Inter" pitchFamily="34" charset="0"/>
                <a:ea typeface="Inter" pitchFamily="34" charset="-122"/>
                <a:cs typeface="Inter" pitchFamily="34" charset="-120"/>
              </a:rPr>
              <a:t>The dataset consists of 70,000 records with 13 factors including age, gender, height, weight, blood pressure readings, cholesterol levels, glucose levels, lifestyle factors, and cardiovascular disease status.</a:t>
            </a:r>
            <a:endParaRPr lang="en-US" sz="1600" dirty="0"/>
          </a:p>
        </p:txBody>
      </p:sp>
      <p:sp>
        <p:nvSpPr>
          <p:cNvPr id="8" name="Shape 4"/>
          <p:cNvSpPr/>
          <p:nvPr/>
        </p:nvSpPr>
        <p:spPr>
          <a:xfrm>
            <a:off x="5183029" y="4449961"/>
            <a:ext cx="459224" cy="459224"/>
          </a:xfrm>
          <a:prstGeom prst="roundRect">
            <a:avLst>
              <a:gd name="adj" fmla="val 6668"/>
            </a:avLst>
          </a:prstGeom>
          <a:solidFill>
            <a:srgbClr val="434348"/>
          </a:solidFill>
          <a:ln/>
        </p:spPr>
      </p:sp>
      <p:pic>
        <p:nvPicPr>
          <p:cNvPr id="9" name="Image 2" descr="preencoded.png">    </p:cNvPr>
          <p:cNvPicPr>
            <a:picLocks noChangeAspect="1"/>
          </p:cNvPicPr>
          <p:nvPr/>
        </p:nvPicPr>
        <p:blipFill>
          <a:blip r:embed="rId3"/>
          <a:stretch>
            <a:fillRect/>
          </a:stretch>
        </p:blipFill>
        <p:spPr>
          <a:xfrm>
            <a:off x="5259526" y="4488180"/>
            <a:ext cx="306110" cy="382667"/>
          </a:xfrm>
          <a:prstGeom prst="rect">
            <a:avLst/>
          </a:prstGeom>
        </p:spPr>
      </p:pic>
      <p:sp>
        <p:nvSpPr>
          <p:cNvPr id="10" name="Text 5"/>
          <p:cNvSpPr/>
          <p:nvPr/>
        </p:nvSpPr>
        <p:spPr>
          <a:xfrm>
            <a:off x="5846326" y="4449961"/>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C7CDD6"/>
                </a:solidFill>
                <a:latin typeface="Instrument Sans Medium" pitchFamily="34" charset="0"/>
                <a:ea typeface="Instrument Sans Medium" pitchFamily="34" charset="-122"/>
                <a:cs typeface="Instrument Sans Medium" pitchFamily="34" charset="-120"/>
              </a:rPr>
              <a:t>Initial Analysis</a:t>
            </a:r>
            <a:endParaRPr lang="en-US" sz="2000" dirty="0"/>
          </a:p>
        </p:txBody>
      </p:sp>
      <p:sp>
        <p:nvSpPr>
          <p:cNvPr id="11" name="Text 6"/>
          <p:cNvSpPr/>
          <p:nvPr/>
        </p:nvSpPr>
        <p:spPr>
          <a:xfrm>
            <a:off x="5846326" y="4891207"/>
            <a:ext cx="3601164" cy="1960245"/>
          </a:xfrm>
          <a:prstGeom prst="rect">
            <a:avLst/>
          </a:prstGeom>
          <a:noFill/>
          <a:ln/>
        </p:spPr>
        <p:txBody>
          <a:bodyPr wrap="square" lIns="0" tIns="0" rIns="0" bIns="0" rtlCol="0" anchor="t"/>
          <a:lstStyle/>
          <a:p>
            <a:pPr algn="l" indent="0" marL="0">
              <a:lnSpc>
                <a:spcPts val="2550"/>
              </a:lnSpc>
              <a:buNone/>
            </a:pPr>
            <a:r>
              <a:rPr lang="en-US" sz="1600" dirty="0">
                <a:solidFill>
                  <a:srgbClr val="C7CDD6"/>
                </a:solidFill>
                <a:latin typeface="Inter" pitchFamily="34" charset="0"/>
                <a:ea typeface="Inter" pitchFamily="34" charset="-122"/>
                <a:cs typeface="Inter" pitchFamily="34" charset="-120"/>
              </a:rPr>
              <a:t>Initial checks revealed no duplicates or null values in the dataset. Age was converted from days to years for better interpretation, and outliers were identified in height, weight, and blood pressure readings.</a:t>
            </a:r>
            <a:endParaRPr lang="en-US" sz="1600" dirty="0"/>
          </a:p>
        </p:txBody>
      </p:sp>
      <p:sp>
        <p:nvSpPr>
          <p:cNvPr id="12" name="Shape 7"/>
          <p:cNvSpPr/>
          <p:nvPr/>
        </p:nvSpPr>
        <p:spPr>
          <a:xfrm>
            <a:off x="9651563" y="4449961"/>
            <a:ext cx="459224" cy="459224"/>
          </a:xfrm>
          <a:prstGeom prst="roundRect">
            <a:avLst>
              <a:gd name="adj" fmla="val 6668"/>
            </a:avLst>
          </a:prstGeom>
          <a:solidFill>
            <a:srgbClr val="434348"/>
          </a:solidFill>
          <a:ln/>
        </p:spPr>
      </p:sp>
      <p:pic>
        <p:nvPicPr>
          <p:cNvPr id="13" name="Image 3" descr="preencoded.png">    </p:cNvPr>
          <p:cNvPicPr>
            <a:picLocks noChangeAspect="1"/>
          </p:cNvPicPr>
          <p:nvPr/>
        </p:nvPicPr>
        <p:blipFill>
          <a:blip r:embed="rId4"/>
          <a:stretch>
            <a:fillRect/>
          </a:stretch>
        </p:blipFill>
        <p:spPr>
          <a:xfrm>
            <a:off x="9728061" y="4488180"/>
            <a:ext cx="306110" cy="382667"/>
          </a:xfrm>
          <a:prstGeom prst="rect">
            <a:avLst/>
          </a:prstGeom>
        </p:spPr>
      </p:pic>
      <p:sp>
        <p:nvSpPr>
          <p:cNvPr id="14" name="Text 8"/>
          <p:cNvSpPr/>
          <p:nvPr/>
        </p:nvSpPr>
        <p:spPr>
          <a:xfrm>
            <a:off x="10314861" y="4449961"/>
            <a:ext cx="2551748" cy="318849"/>
          </a:xfrm>
          <a:prstGeom prst="rect">
            <a:avLst/>
          </a:prstGeom>
          <a:noFill/>
          <a:ln/>
        </p:spPr>
        <p:txBody>
          <a:bodyPr wrap="none" lIns="0" tIns="0" rIns="0" bIns="0" rtlCol="0" anchor="t"/>
          <a:lstStyle/>
          <a:p>
            <a:pPr algn="l" indent="0" marL="0">
              <a:lnSpc>
                <a:spcPts val="2500"/>
              </a:lnSpc>
              <a:buNone/>
            </a:pPr>
            <a:r>
              <a:rPr lang="en-US" sz="2000" dirty="0">
                <a:solidFill>
                  <a:srgbClr val="C7CDD6"/>
                </a:solidFill>
                <a:latin typeface="Instrument Sans Medium" pitchFamily="34" charset="0"/>
                <a:ea typeface="Instrument Sans Medium" pitchFamily="34" charset="-122"/>
                <a:cs typeface="Instrument Sans Medium" pitchFamily="34" charset="-120"/>
              </a:rPr>
              <a:t>Data Cleaning</a:t>
            </a:r>
            <a:endParaRPr lang="en-US" sz="2000" dirty="0"/>
          </a:p>
        </p:txBody>
      </p:sp>
      <p:sp>
        <p:nvSpPr>
          <p:cNvPr id="15" name="Text 9"/>
          <p:cNvSpPr/>
          <p:nvPr/>
        </p:nvSpPr>
        <p:spPr>
          <a:xfrm>
            <a:off x="10314861" y="4891207"/>
            <a:ext cx="3601164" cy="2613660"/>
          </a:xfrm>
          <a:prstGeom prst="rect">
            <a:avLst/>
          </a:prstGeom>
          <a:noFill/>
          <a:ln/>
        </p:spPr>
        <p:txBody>
          <a:bodyPr wrap="square" lIns="0" tIns="0" rIns="0" bIns="0" rtlCol="0" anchor="t"/>
          <a:lstStyle/>
          <a:p>
            <a:pPr algn="l" indent="0" marL="0">
              <a:lnSpc>
                <a:spcPts val="2550"/>
              </a:lnSpc>
              <a:buNone/>
            </a:pPr>
            <a:r>
              <a:rPr lang="en-US" sz="1600" dirty="0">
                <a:solidFill>
                  <a:srgbClr val="C7CDD6"/>
                </a:solidFill>
                <a:latin typeface="Inter" pitchFamily="34" charset="0"/>
                <a:ea typeface="Inter" pitchFamily="34" charset="-122"/>
                <a:cs typeface="Inter" pitchFamily="34" charset="-120"/>
              </a:rPr>
              <a:t>Outliers were handled by establishing medical thresholds: height (100-200cm), weight (45-190kg), systolic pressure (50-250mmHg), and diastolic pressure (40-150mmHg). Records with gender=3 were removed as they represented only 11 samples.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12907" y="778788"/>
            <a:ext cx="4475202" cy="559356"/>
          </a:xfrm>
          <a:prstGeom prst="rect">
            <a:avLst/>
          </a:prstGeom>
          <a:noFill/>
          <a:ln/>
        </p:spPr>
        <p:txBody>
          <a:bodyPr wrap="none" lIns="0" tIns="0" rIns="0" bIns="0" rtlCol="0" anchor="t"/>
          <a:lstStyle/>
          <a:p>
            <a:pPr algn="l" indent="0" marL="0">
              <a:lnSpc>
                <a:spcPts val="4400"/>
              </a:lnSpc>
              <a:buNone/>
            </a:pPr>
            <a:r>
              <a:rPr lang="en-US" sz="3500" dirty="0">
                <a:solidFill>
                  <a:srgbClr val="EFD5FA"/>
                </a:solidFill>
                <a:latin typeface="Instrument Sans Medium" pitchFamily="34" charset="0"/>
                <a:ea typeface="Instrument Sans Medium" pitchFamily="34" charset="-122"/>
                <a:cs typeface="Instrument Sans Medium" pitchFamily="34" charset="-120"/>
              </a:rPr>
              <a:t>Feature Engineering</a:t>
            </a:r>
            <a:endParaRPr lang="en-US" sz="3500" dirty="0"/>
          </a:p>
        </p:txBody>
      </p:sp>
      <p:pic>
        <p:nvPicPr>
          <p:cNvPr id="4" name="Image 1" descr="preencoded.png">    </p:cNvPr>
          <p:cNvPicPr>
            <a:picLocks noChangeAspect="1"/>
          </p:cNvPicPr>
          <p:nvPr/>
        </p:nvPicPr>
        <p:blipFill>
          <a:blip r:embed="rId2"/>
          <a:stretch>
            <a:fillRect/>
          </a:stretch>
        </p:blipFill>
        <p:spPr>
          <a:xfrm>
            <a:off x="6112907" y="1606629"/>
            <a:ext cx="894993" cy="1604248"/>
          </a:xfrm>
          <a:prstGeom prst="rect">
            <a:avLst/>
          </a:prstGeom>
        </p:spPr>
      </p:pic>
      <p:sp>
        <p:nvSpPr>
          <p:cNvPr id="5" name="Text 1"/>
          <p:cNvSpPr/>
          <p:nvPr/>
        </p:nvSpPr>
        <p:spPr>
          <a:xfrm>
            <a:off x="7276386" y="1785580"/>
            <a:ext cx="2362914" cy="279559"/>
          </a:xfrm>
          <a:prstGeom prst="rect">
            <a:avLst/>
          </a:prstGeom>
          <a:noFill/>
          <a:ln/>
        </p:spPr>
        <p:txBody>
          <a:bodyPr wrap="none" lIns="0" tIns="0" rIns="0" bIns="0" rtlCol="0" anchor="t"/>
          <a:lstStyle/>
          <a:p>
            <a:pPr algn="l" indent="0" marL="0">
              <a:lnSpc>
                <a:spcPts val="2200"/>
              </a:lnSpc>
              <a:buNone/>
            </a:pPr>
            <a:r>
              <a:rPr lang="en-US" sz="1750" dirty="0">
                <a:solidFill>
                  <a:srgbClr val="C7CDD6"/>
                </a:solidFill>
                <a:latin typeface="Instrument Sans Medium" pitchFamily="34" charset="0"/>
                <a:ea typeface="Instrument Sans Medium" pitchFamily="34" charset="-122"/>
                <a:cs typeface="Instrument Sans Medium" pitchFamily="34" charset="-120"/>
              </a:rPr>
              <a:t>Body Mass Index (BMI)</a:t>
            </a:r>
            <a:endParaRPr lang="en-US" sz="1750" dirty="0"/>
          </a:p>
        </p:txBody>
      </p:sp>
      <p:sp>
        <p:nvSpPr>
          <p:cNvPr id="6" name="Text 2"/>
          <p:cNvSpPr/>
          <p:nvPr/>
        </p:nvSpPr>
        <p:spPr>
          <a:xfrm>
            <a:off x="7276386" y="2172533"/>
            <a:ext cx="6727507" cy="859393"/>
          </a:xfrm>
          <a:prstGeom prst="rect">
            <a:avLst/>
          </a:prstGeom>
          <a:noFill/>
          <a:ln/>
        </p:spPr>
        <p:txBody>
          <a:bodyPr wrap="square" lIns="0" tIns="0" rIns="0" bIns="0" rtlCol="0" anchor="t"/>
          <a:lstStyle/>
          <a:p>
            <a:pPr algn="l" indent="0" marL="0">
              <a:lnSpc>
                <a:spcPts val="2250"/>
              </a:lnSpc>
              <a:buNone/>
            </a:pPr>
            <a:r>
              <a:rPr lang="en-US" sz="1400" dirty="0">
                <a:solidFill>
                  <a:srgbClr val="C7CDD6"/>
                </a:solidFill>
                <a:latin typeface="Inter" pitchFamily="34" charset="0"/>
                <a:ea typeface="Inter" pitchFamily="34" charset="-122"/>
                <a:cs typeface="Inter" pitchFamily="34" charset="-120"/>
              </a:rPr>
              <a:t>BMI was calculated using weight and height, then categorized into: Underweight (&lt;18.5), Normal weight (18.5-24.9), Overweight (25-29.9), and Obesity (≥30).</a:t>
            </a:r>
            <a:endParaRPr lang="en-US" sz="1400" dirty="0"/>
          </a:p>
        </p:txBody>
      </p:sp>
      <p:pic>
        <p:nvPicPr>
          <p:cNvPr id="7" name="Image 2" descr="preencoded.png">    </p:cNvPr>
          <p:cNvPicPr>
            <a:picLocks noChangeAspect="1"/>
          </p:cNvPicPr>
          <p:nvPr/>
        </p:nvPicPr>
        <p:blipFill>
          <a:blip r:embed="rId3"/>
          <a:stretch>
            <a:fillRect/>
          </a:stretch>
        </p:blipFill>
        <p:spPr>
          <a:xfrm>
            <a:off x="6112907" y="3210877"/>
            <a:ext cx="894993" cy="1317784"/>
          </a:xfrm>
          <a:prstGeom prst="rect">
            <a:avLst/>
          </a:prstGeom>
        </p:spPr>
      </p:pic>
      <p:sp>
        <p:nvSpPr>
          <p:cNvPr id="8" name="Text 3"/>
          <p:cNvSpPr/>
          <p:nvPr/>
        </p:nvSpPr>
        <p:spPr>
          <a:xfrm>
            <a:off x="7276386" y="3389828"/>
            <a:ext cx="2257782" cy="279559"/>
          </a:xfrm>
          <a:prstGeom prst="rect">
            <a:avLst/>
          </a:prstGeom>
          <a:noFill/>
          <a:ln/>
        </p:spPr>
        <p:txBody>
          <a:bodyPr wrap="none" lIns="0" tIns="0" rIns="0" bIns="0" rtlCol="0" anchor="t"/>
          <a:lstStyle/>
          <a:p>
            <a:pPr algn="l" indent="0" marL="0">
              <a:lnSpc>
                <a:spcPts val="2200"/>
              </a:lnSpc>
              <a:buNone/>
            </a:pPr>
            <a:r>
              <a:rPr lang="en-US" sz="1750" dirty="0">
                <a:solidFill>
                  <a:srgbClr val="C7CDD6"/>
                </a:solidFill>
                <a:latin typeface="Instrument Sans Medium" pitchFamily="34" charset="0"/>
                <a:ea typeface="Instrument Sans Medium" pitchFamily="34" charset="-122"/>
                <a:cs typeface="Instrument Sans Medium" pitchFamily="34" charset="-120"/>
              </a:rPr>
              <a:t>Hypertension Feature</a:t>
            </a:r>
            <a:endParaRPr lang="en-US" sz="1750" dirty="0"/>
          </a:p>
        </p:txBody>
      </p:sp>
      <p:sp>
        <p:nvSpPr>
          <p:cNvPr id="9" name="Text 4"/>
          <p:cNvSpPr/>
          <p:nvPr/>
        </p:nvSpPr>
        <p:spPr>
          <a:xfrm>
            <a:off x="7276386" y="3776782"/>
            <a:ext cx="6727507" cy="572929"/>
          </a:xfrm>
          <a:prstGeom prst="rect">
            <a:avLst/>
          </a:prstGeom>
          <a:noFill/>
          <a:ln/>
        </p:spPr>
        <p:txBody>
          <a:bodyPr wrap="square" lIns="0" tIns="0" rIns="0" bIns="0" rtlCol="0" anchor="t"/>
          <a:lstStyle/>
          <a:p>
            <a:pPr algn="l" indent="0" marL="0">
              <a:lnSpc>
                <a:spcPts val="2250"/>
              </a:lnSpc>
              <a:buNone/>
            </a:pPr>
            <a:r>
              <a:rPr lang="en-US" sz="1400" dirty="0">
                <a:solidFill>
                  <a:srgbClr val="C7CDD6"/>
                </a:solidFill>
                <a:latin typeface="Inter" pitchFamily="34" charset="0"/>
                <a:ea typeface="Inter" pitchFamily="34" charset="-122"/>
                <a:cs typeface="Inter" pitchFamily="34" charset="-120"/>
              </a:rPr>
              <a:t>A binary hypertension flag was created, set to 1 if systolic pressure &gt;130mmHg or diastolic pressure &gt;90mmHg, indicating stage 1 hypertension or higher.</a:t>
            </a:r>
            <a:endParaRPr lang="en-US" sz="1400" dirty="0"/>
          </a:p>
        </p:txBody>
      </p:sp>
      <p:pic>
        <p:nvPicPr>
          <p:cNvPr id="10" name="Image 3" descr="preencoded.png">    </p:cNvPr>
          <p:cNvPicPr>
            <a:picLocks noChangeAspect="1"/>
          </p:cNvPicPr>
          <p:nvPr/>
        </p:nvPicPr>
        <p:blipFill>
          <a:blip r:embed="rId4"/>
          <a:stretch>
            <a:fillRect/>
          </a:stretch>
        </p:blipFill>
        <p:spPr>
          <a:xfrm>
            <a:off x="6112907" y="4528661"/>
            <a:ext cx="894993" cy="1604248"/>
          </a:xfrm>
          <a:prstGeom prst="rect">
            <a:avLst/>
          </a:prstGeom>
        </p:spPr>
      </p:pic>
      <p:sp>
        <p:nvSpPr>
          <p:cNvPr id="11" name="Text 5"/>
          <p:cNvSpPr/>
          <p:nvPr/>
        </p:nvSpPr>
        <p:spPr>
          <a:xfrm>
            <a:off x="7276386" y="4707612"/>
            <a:ext cx="2307074" cy="279559"/>
          </a:xfrm>
          <a:prstGeom prst="rect">
            <a:avLst/>
          </a:prstGeom>
          <a:noFill/>
          <a:ln/>
        </p:spPr>
        <p:txBody>
          <a:bodyPr wrap="none" lIns="0" tIns="0" rIns="0" bIns="0" rtlCol="0" anchor="t"/>
          <a:lstStyle/>
          <a:p>
            <a:pPr algn="l" indent="0" marL="0">
              <a:lnSpc>
                <a:spcPts val="2200"/>
              </a:lnSpc>
              <a:buNone/>
            </a:pPr>
            <a:r>
              <a:rPr lang="en-US" sz="1750" dirty="0">
                <a:solidFill>
                  <a:srgbClr val="C7CDD6"/>
                </a:solidFill>
                <a:latin typeface="Instrument Sans Medium" pitchFamily="34" charset="0"/>
                <a:ea typeface="Instrument Sans Medium" pitchFamily="34" charset="-122"/>
                <a:cs typeface="Instrument Sans Medium" pitchFamily="34" charset="-120"/>
              </a:rPr>
              <a:t>Pulse Pressure &amp; MAP</a:t>
            </a:r>
            <a:endParaRPr lang="en-US" sz="1750" dirty="0"/>
          </a:p>
        </p:txBody>
      </p:sp>
      <p:sp>
        <p:nvSpPr>
          <p:cNvPr id="12" name="Text 6"/>
          <p:cNvSpPr/>
          <p:nvPr/>
        </p:nvSpPr>
        <p:spPr>
          <a:xfrm>
            <a:off x="7276386" y="5094565"/>
            <a:ext cx="6727507" cy="859393"/>
          </a:xfrm>
          <a:prstGeom prst="rect">
            <a:avLst/>
          </a:prstGeom>
          <a:noFill/>
          <a:ln/>
        </p:spPr>
        <p:txBody>
          <a:bodyPr wrap="square" lIns="0" tIns="0" rIns="0" bIns="0" rtlCol="0" anchor="t"/>
          <a:lstStyle/>
          <a:p>
            <a:pPr algn="l" indent="0" marL="0">
              <a:lnSpc>
                <a:spcPts val="2250"/>
              </a:lnSpc>
              <a:buNone/>
            </a:pPr>
            <a:r>
              <a:rPr lang="en-US" sz="1400" dirty="0">
                <a:solidFill>
                  <a:srgbClr val="C7CDD6"/>
                </a:solidFill>
                <a:latin typeface="Inter" pitchFamily="34" charset="0"/>
                <a:ea typeface="Inter" pitchFamily="34" charset="-122"/>
                <a:cs typeface="Inter" pitchFamily="34" charset="-120"/>
              </a:rPr>
              <a:t>Pulse Pressure (PP = systolic - diastolic) and Mean Arterial Pressure (MAP = diastolic + 1/3(systolic - diastolic)) were calculated as key cardiovascular indicators.</a:t>
            </a:r>
            <a:endParaRPr lang="en-US" sz="1400" dirty="0"/>
          </a:p>
        </p:txBody>
      </p:sp>
      <p:pic>
        <p:nvPicPr>
          <p:cNvPr id="13" name="Image 4" descr="preencoded.png">    </p:cNvPr>
          <p:cNvPicPr>
            <a:picLocks noChangeAspect="1"/>
          </p:cNvPicPr>
          <p:nvPr/>
        </p:nvPicPr>
        <p:blipFill>
          <a:blip r:embed="rId5"/>
          <a:stretch>
            <a:fillRect/>
          </a:stretch>
        </p:blipFill>
        <p:spPr>
          <a:xfrm>
            <a:off x="6112907" y="6132909"/>
            <a:ext cx="894993" cy="1317784"/>
          </a:xfrm>
          <a:prstGeom prst="rect">
            <a:avLst/>
          </a:prstGeom>
        </p:spPr>
      </p:pic>
      <p:sp>
        <p:nvSpPr>
          <p:cNvPr id="14" name="Text 7"/>
          <p:cNvSpPr/>
          <p:nvPr/>
        </p:nvSpPr>
        <p:spPr>
          <a:xfrm>
            <a:off x="7276386" y="6311860"/>
            <a:ext cx="2968823" cy="279559"/>
          </a:xfrm>
          <a:prstGeom prst="rect">
            <a:avLst/>
          </a:prstGeom>
          <a:noFill/>
          <a:ln/>
        </p:spPr>
        <p:txBody>
          <a:bodyPr wrap="none" lIns="0" tIns="0" rIns="0" bIns="0" rtlCol="0" anchor="t"/>
          <a:lstStyle/>
          <a:p>
            <a:pPr algn="l" indent="0" marL="0">
              <a:lnSpc>
                <a:spcPts val="2200"/>
              </a:lnSpc>
              <a:buNone/>
            </a:pPr>
            <a:r>
              <a:rPr lang="en-US" sz="1750" dirty="0">
                <a:solidFill>
                  <a:srgbClr val="C7CDD6"/>
                </a:solidFill>
                <a:latin typeface="Instrument Sans Medium" pitchFamily="34" charset="0"/>
                <a:ea typeface="Instrument Sans Medium" pitchFamily="34" charset="-122"/>
                <a:cs typeface="Instrument Sans Medium" pitchFamily="34" charset="-120"/>
              </a:rPr>
              <a:t>Age Groups &amp; PP Categories</a:t>
            </a:r>
            <a:endParaRPr lang="en-US" sz="1750" dirty="0"/>
          </a:p>
        </p:txBody>
      </p:sp>
      <p:sp>
        <p:nvSpPr>
          <p:cNvPr id="15" name="Text 8"/>
          <p:cNvSpPr/>
          <p:nvPr/>
        </p:nvSpPr>
        <p:spPr>
          <a:xfrm>
            <a:off x="7276386" y="6698813"/>
            <a:ext cx="6727507" cy="572929"/>
          </a:xfrm>
          <a:prstGeom prst="rect">
            <a:avLst/>
          </a:prstGeom>
          <a:noFill/>
          <a:ln/>
        </p:spPr>
        <p:txBody>
          <a:bodyPr wrap="square" lIns="0" tIns="0" rIns="0" bIns="0" rtlCol="0" anchor="t"/>
          <a:lstStyle/>
          <a:p>
            <a:pPr algn="l" indent="0" marL="0">
              <a:lnSpc>
                <a:spcPts val="2250"/>
              </a:lnSpc>
              <a:buNone/>
            </a:pPr>
            <a:r>
              <a:rPr lang="en-US" sz="1400" dirty="0">
                <a:solidFill>
                  <a:srgbClr val="C7CDD6"/>
                </a:solidFill>
                <a:latin typeface="Inter" pitchFamily="34" charset="0"/>
                <a:ea typeface="Inter" pitchFamily="34" charset="-122"/>
                <a:cs typeface="Inter" pitchFamily="34" charset="-120"/>
              </a:rPr>
              <a:t>Age was categorized into 6 groups (20-29, 30-39, etc.) and PP into 5 categories based on medical significance, from very low to very high pressure.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64939" y="365284"/>
            <a:ext cx="3943350" cy="415171"/>
          </a:xfrm>
          <a:prstGeom prst="rect">
            <a:avLst/>
          </a:prstGeom>
          <a:noFill/>
          <a:ln/>
        </p:spPr>
        <p:txBody>
          <a:bodyPr wrap="none" lIns="0" tIns="0" rIns="0" bIns="0" rtlCol="0" anchor="t"/>
          <a:lstStyle/>
          <a:p>
            <a:pPr algn="l" indent="0" marL="0">
              <a:lnSpc>
                <a:spcPts val="3250"/>
              </a:lnSpc>
              <a:buNone/>
            </a:pPr>
            <a:r>
              <a:rPr lang="en-US" sz="2600" dirty="0">
                <a:solidFill>
                  <a:srgbClr val="EFD5FA"/>
                </a:solidFill>
                <a:latin typeface="Instrument Sans Medium" pitchFamily="34" charset="0"/>
                <a:ea typeface="Instrument Sans Medium" pitchFamily="34" charset="-122"/>
                <a:cs typeface="Instrument Sans Medium" pitchFamily="34" charset="-120"/>
              </a:rPr>
              <a:t>Exploratory Data Analysis</a:t>
            </a:r>
            <a:endParaRPr lang="en-US" sz="2600" dirty="0"/>
          </a:p>
        </p:txBody>
      </p:sp>
      <p:pic>
        <p:nvPicPr>
          <p:cNvPr id="3" name="Image 0" descr="preencoded.png">    </p:cNvPr>
          <p:cNvPicPr>
            <a:picLocks noChangeAspect="1"/>
          </p:cNvPicPr>
          <p:nvPr/>
        </p:nvPicPr>
        <p:blipFill>
          <a:blip r:embed="rId1"/>
          <a:stretch>
            <a:fillRect/>
          </a:stretch>
        </p:blipFill>
        <p:spPr>
          <a:xfrm>
            <a:off x="464939" y="1046083"/>
            <a:ext cx="13700522" cy="7672268"/>
          </a:xfrm>
          <a:prstGeom prst="rect">
            <a:avLst/>
          </a:prstGeom>
        </p:spPr>
      </p:pic>
      <p:sp>
        <p:nvSpPr>
          <p:cNvPr id="4" name="Text 1"/>
          <p:cNvSpPr/>
          <p:nvPr/>
        </p:nvSpPr>
        <p:spPr>
          <a:xfrm>
            <a:off x="464939" y="8867775"/>
            <a:ext cx="13700522" cy="425053"/>
          </a:xfrm>
          <a:prstGeom prst="rect">
            <a:avLst/>
          </a:prstGeom>
          <a:noFill/>
          <a:ln/>
        </p:spPr>
        <p:txBody>
          <a:bodyPr wrap="square" lIns="0" tIns="0" rIns="0" bIns="0" rtlCol="0" anchor="t"/>
          <a:lstStyle/>
          <a:p>
            <a:pPr algn="l" indent="0" marL="0">
              <a:lnSpc>
                <a:spcPts val="1650"/>
              </a:lnSpc>
              <a:buNone/>
            </a:pPr>
            <a:r>
              <a:rPr lang="en-US" sz="1000" dirty="0">
                <a:solidFill>
                  <a:srgbClr val="C7CDD6"/>
                </a:solidFill>
                <a:latin typeface="Inter" pitchFamily="34" charset="0"/>
                <a:ea typeface="Inter" pitchFamily="34" charset="-122"/>
                <a:cs typeface="Inter" pitchFamily="34" charset="-120"/>
              </a:rPr>
              <a:t>Data visualization revealed strong relationships between cardiovascular disease and several factors. BMI category and age group showed direct proportional relationships with CVD risk - people with higher BMI and in older age groups had significantly higher rates of cardiovascular disease.</a:t>
            </a:r>
            <a:endParaRPr lang="en-US" sz="1000" dirty="0"/>
          </a:p>
        </p:txBody>
      </p:sp>
      <p:sp>
        <p:nvSpPr>
          <p:cNvPr id="5" name="Text 2"/>
          <p:cNvSpPr/>
          <p:nvPr/>
        </p:nvSpPr>
        <p:spPr>
          <a:xfrm>
            <a:off x="464939" y="9442252"/>
            <a:ext cx="13700522" cy="425053"/>
          </a:xfrm>
          <a:prstGeom prst="rect">
            <a:avLst/>
          </a:prstGeom>
          <a:noFill/>
          <a:ln/>
        </p:spPr>
        <p:txBody>
          <a:bodyPr wrap="square" lIns="0" tIns="0" rIns="0" bIns="0" rtlCol="0" anchor="t"/>
          <a:lstStyle/>
          <a:p>
            <a:pPr algn="l" indent="0" marL="0">
              <a:lnSpc>
                <a:spcPts val="1650"/>
              </a:lnSpc>
              <a:buNone/>
            </a:pPr>
            <a:r>
              <a:rPr lang="en-US" sz="1000" dirty="0">
                <a:solidFill>
                  <a:srgbClr val="C7CDD6"/>
                </a:solidFill>
                <a:latin typeface="Inter" pitchFamily="34" charset="0"/>
                <a:ea typeface="Inter" pitchFamily="34" charset="-122"/>
                <a:cs typeface="Inter" pitchFamily="34" charset="-120"/>
              </a:rPr>
              <a:t>Similarly, hypertension strongly correlated with CVD, especially in older age groups. Statistical tests confirmed dependencies between the target variable (cardio) and features like cholesterol, BMI category, hypertension, pulse pressure category, and age group (p-values ≈ 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77133"/>
            <a:ext cx="7814072" cy="708779"/>
          </a:xfrm>
          <a:prstGeom prst="rect">
            <a:avLst/>
          </a:prstGeom>
          <a:noFill/>
          <a:ln/>
        </p:spPr>
        <p:txBody>
          <a:bodyPr wrap="none" lIns="0" tIns="0" rIns="0" bIns="0" rtlCol="0" anchor="t"/>
          <a:lstStyle/>
          <a:p>
            <a:pPr algn="l" indent="0" marL="0">
              <a:lnSpc>
                <a:spcPts val="5550"/>
              </a:lnSpc>
              <a:buNone/>
            </a:pPr>
            <a:r>
              <a:rPr lang="en-US" sz="4450" dirty="0">
                <a:solidFill>
                  <a:srgbClr val="EFD5FA"/>
                </a:solidFill>
                <a:latin typeface="Instrument Sans Medium" pitchFamily="34" charset="0"/>
                <a:ea typeface="Instrument Sans Medium" pitchFamily="34" charset="-122"/>
                <a:cs typeface="Instrument Sans Medium" pitchFamily="34" charset="-120"/>
              </a:rPr>
              <a:t>Feature Dependency Analysis</a:t>
            </a:r>
            <a:endParaRPr lang="en-US" sz="4450" dirty="0"/>
          </a:p>
        </p:txBody>
      </p:sp>
      <p:sp>
        <p:nvSpPr>
          <p:cNvPr id="3" name="Text 1"/>
          <p:cNvSpPr/>
          <p:nvPr/>
        </p:nvSpPr>
        <p:spPr>
          <a:xfrm>
            <a:off x="1693545" y="2039541"/>
            <a:ext cx="2998946" cy="354330"/>
          </a:xfrm>
          <a:prstGeom prst="rect">
            <a:avLst/>
          </a:prstGeom>
          <a:noFill/>
          <a:ln/>
        </p:spPr>
        <p:txBody>
          <a:bodyPr wrap="none" lIns="0" tIns="0" rIns="0" bIns="0" rtlCol="0" anchor="t"/>
          <a:lstStyle/>
          <a:p>
            <a:pPr algn="r"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Strongest Correlations</a:t>
            </a:r>
            <a:endParaRPr lang="en-US" sz="2200" dirty="0"/>
          </a:p>
        </p:txBody>
      </p:sp>
      <p:sp>
        <p:nvSpPr>
          <p:cNvPr id="4" name="Text 2"/>
          <p:cNvSpPr/>
          <p:nvPr/>
        </p:nvSpPr>
        <p:spPr>
          <a:xfrm>
            <a:off x="793790" y="2529959"/>
            <a:ext cx="3898702" cy="2177415"/>
          </a:xfrm>
          <a:prstGeom prst="rect">
            <a:avLst/>
          </a:prstGeom>
          <a:noFill/>
          <a:ln/>
        </p:spPr>
        <p:txBody>
          <a:bodyPr wrap="square" lIns="0" tIns="0" rIns="0" bIns="0" rtlCol="0" anchor="t"/>
          <a:lstStyle/>
          <a:p>
            <a:pPr algn="r" indent="0" marL="0">
              <a:lnSpc>
                <a:spcPts val="2850"/>
              </a:lnSpc>
              <a:buNone/>
            </a:pPr>
            <a:r>
              <a:rPr lang="en-US" sz="1750" dirty="0">
                <a:solidFill>
                  <a:srgbClr val="C7CDD6"/>
                </a:solidFill>
                <a:latin typeface="Inter" pitchFamily="34" charset="0"/>
                <a:ea typeface="Inter" pitchFamily="34" charset="-122"/>
                <a:cs typeface="Inter" pitchFamily="34" charset="-120"/>
              </a:rPr>
              <a:t>Systolic pressure (ap_hi), Mean Arterial Pressure (MAP), Pulse Pressure (PP), and diastolic pressure (ap_lo) showed the strongest correlations with cardiovascular disease.</a:t>
            </a:r>
            <a:endParaRPr lang="en-US" sz="1750" dirty="0"/>
          </a:p>
        </p:txBody>
      </p:sp>
      <p:pic>
        <p:nvPicPr>
          <p:cNvPr id="5" name="Image 0" descr="preencoded.png">    </p:cNvPr>
          <p:cNvPicPr>
            <a:picLocks noChangeAspect="1"/>
          </p:cNvPicPr>
          <p:nvPr/>
        </p:nvPicPr>
        <p:blipFill>
          <a:blip r:embed="rId1"/>
          <a:stretch>
            <a:fillRect/>
          </a:stretch>
        </p:blipFill>
        <p:spPr>
          <a:xfrm>
            <a:off x="5032653" y="2413516"/>
            <a:ext cx="4564975" cy="4564975"/>
          </a:xfrm>
          <a:prstGeom prst="rect">
            <a:avLst/>
          </a:prstGeom>
        </p:spPr>
      </p:pic>
      <p:pic>
        <p:nvPicPr>
          <p:cNvPr id="6" name="Image 1" descr="preencoded.png">    </p:cNvPr>
          <p:cNvPicPr>
            <a:picLocks noChangeAspect="1"/>
          </p:cNvPicPr>
          <p:nvPr/>
        </p:nvPicPr>
        <p:blipFill>
          <a:blip r:embed="rId2"/>
          <a:stretch>
            <a:fillRect/>
          </a:stretch>
        </p:blipFill>
        <p:spPr>
          <a:xfrm>
            <a:off x="6015633" y="3353991"/>
            <a:ext cx="339328" cy="424220"/>
          </a:xfrm>
          <a:prstGeom prst="rect">
            <a:avLst/>
          </a:prstGeom>
        </p:spPr>
      </p:pic>
      <p:sp>
        <p:nvSpPr>
          <p:cNvPr id="7" name="Text 3"/>
          <p:cNvSpPr/>
          <p:nvPr/>
        </p:nvSpPr>
        <p:spPr>
          <a:xfrm>
            <a:off x="9937790" y="2583894"/>
            <a:ext cx="2961799" cy="354330"/>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Moderate Correlations</a:t>
            </a:r>
            <a:endParaRPr lang="en-US" sz="2200" dirty="0"/>
          </a:p>
        </p:txBody>
      </p:sp>
      <p:sp>
        <p:nvSpPr>
          <p:cNvPr id="8" name="Text 4"/>
          <p:cNvSpPr/>
          <p:nvPr/>
        </p:nvSpPr>
        <p:spPr>
          <a:xfrm>
            <a:off x="9937790" y="3074313"/>
            <a:ext cx="3898821" cy="1088708"/>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Age, BMI, and weight demonstrated moderate correlations with cardiovascular disease risk.</a:t>
            </a:r>
            <a:endParaRPr lang="en-US" sz="1750" dirty="0"/>
          </a:p>
        </p:txBody>
      </p:sp>
      <p:pic>
        <p:nvPicPr>
          <p:cNvPr id="9" name="Image 2" descr="preencoded.png">    </p:cNvPr>
          <p:cNvPicPr>
            <a:picLocks noChangeAspect="1"/>
          </p:cNvPicPr>
          <p:nvPr/>
        </p:nvPicPr>
        <p:blipFill>
          <a:blip r:embed="rId3"/>
          <a:stretch>
            <a:fillRect/>
          </a:stretch>
        </p:blipFill>
        <p:spPr>
          <a:xfrm>
            <a:off x="5032653" y="2413516"/>
            <a:ext cx="4564975" cy="4564975"/>
          </a:xfrm>
          <a:prstGeom prst="rect">
            <a:avLst/>
          </a:prstGeom>
        </p:spPr>
      </p:pic>
      <p:pic>
        <p:nvPicPr>
          <p:cNvPr id="10" name="Image 3" descr="preencoded.png">    </p:cNvPr>
          <p:cNvPicPr>
            <a:picLocks noChangeAspect="1"/>
          </p:cNvPicPr>
          <p:nvPr/>
        </p:nvPicPr>
        <p:blipFill>
          <a:blip r:embed="rId4"/>
          <a:stretch>
            <a:fillRect/>
          </a:stretch>
        </p:blipFill>
        <p:spPr>
          <a:xfrm>
            <a:off x="8275201" y="3353991"/>
            <a:ext cx="339328" cy="424220"/>
          </a:xfrm>
          <a:prstGeom prst="rect">
            <a:avLst/>
          </a:prstGeom>
        </p:spPr>
      </p:pic>
      <p:sp>
        <p:nvSpPr>
          <p:cNvPr id="11" name="Text 5"/>
          <p:cNvSpPr/>
          <p:nvPr/>
        </p:nvSpPr>
        <p:spPr>
          <a:xfrm>
            <a:off x="9937790" y="504753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Weak Correlations</a:t>
            </a:r>
            <a:endParaRPr lang="en-US" sz="2200" dirty="0"/>
          </a:p>
        </p:txBody>
      </p:sp>
      <p:sp>
        <p:nvSpPr>
          <p:cNvPr id="12" name="Text 6"/>
          <p:cNvSpPr/>
          <p:nvPr/>
        </p:nvSpPr>
        <p:spPr>
          <a:xfrm>
            <a:off x="9937790" y="5537954"/>
            <a:ext cx="3898821" cy="1814513"/>
          </a:xfrm>
          <a:prstGeom prst="rect">
            <a:avLst/>
          </a:prstGeom>
          <a:noFill/>
          <a:ln/>
        </p:spPr>
        <p:txBody>
          <a:bodyPr wrap="square" lIns="0" tIns="0" rIns="0" bIns="0" rtlCol="0" anchor="t"/>
          <a:lstStyle/>
          <a:p>
            <a:pPr algn="l" indent="0" marL="0">
              <a:lnSpc>
                <a:spcPts val="2850"/>
              </a:lnSpc>
              <a:buNone/>
            </a:pPr>
            <a:r>
              <a:rPr lang="en-US" sz="1750" dirty="0">
                <a:solidFill>
                  <a:srgbClr val="C7CDD6"/>
                </a:solidFill>
                <a:latin typeface="Inter" pitchFamily="34" charset="0"/>
                <a:ea typeface="Inter" pitchFamily="34" charset="-122"/>
                <a:cs typeface="Inter" pitchFamily="34" charset="-120"/>
              </a:rPr>
              <a:t>Height showed minimal correlation with cardiovascular disease, while gender had no statistically significant relationship (p-value &gt; 0.05).</a:t>
            </a:r>
            <a:endParaRPr lang="en-US" sz="1750" dirty="0"/>
          </a:p>
        </p:txBody>
      </p:sp>
      <p:pic>
        <p:nvPicPr>
          <p:cNvPr id="13" name="Image 4" descr="preencoded.png">    </p:cNvPr>
          <p:cNvPicPr>
            <a:picLocks noChangeAspect="1"/>
          </p:cNvPicPr>
          <p:nvPr/>
        </p:nvPicPr>
        <p:blipFill>
          <a:blip r:embed="rId5"/>
          <a:stretch>
            <a:fillRect/>
          </a:stretch>
        </p:blipFill>
        <p:spPr>
          <a:xfrm>
            <a:off x="5032653" y="2413516"/>
            <a:ext cx="4564975" cy="4564975"/>
          </a:xfrm>
          <a:prstGeom prst="rect">
            <a:avLst/>
          </a:prstGeom>
        </p:spPr>
      </p:pic>
      <p:pic>
        <p:nvPicPr>
          <p:cNvPr id="14" name="Image 5" descr="preencoded.png">    </p:cNvPr>
          <p:cNvPicPr>
            <a:picLocks noChangeAspect="1"/>
          </p:cNvPicPr>
          <p:nvPr/>
        </p:nvPicPr>
        <p:blipFill>
          <a:blip r:embed="rId6"/>
          <a:stretch>
            <a:fillRect/>
          </a:stretch>
        </p:blipFill>
        <p:spPr>
          <a:xfrm>
            <a:off x="8275201" y="5613559"/>
            <a:ext cx="339328" cy="424220"/>
          </a:xfrm>
          <a:prstGeom prst="rect">
            <a:avLst/>
          </a:prstGeom>
        </p:spPr>
      </p:pic>
      <p:sp>
        <p:nvSpPr>
          <p:cNvPr id="15" name="Text 7"/>
          <p:cNvSpPr/>
          <p:nvPr/>
        </p:nvSpPr>
        <p:spPr>
          <a:xfrm>
            <a:off x="1857256" y="5228987"/>
            <a:ext cx="2835235" cy="354330"/>
          </a:xfrm>
          <a:prstGeom prst="rect">
            <a:avLst/>
          </a:prstGeom>
          <a:noFill/>
          <a:ln/>
        </p:spPr>
        <p:txBody>
          <a:bodyPr wrap="none" lIns="0" tIns="0" rIns="0" bIns="0" rtlCol="0" anchor="t"/>
          <a:lstStyle/>
          <a:p>
            <a:pPr algn="r" indent="0" marL="0">
              <a:lnSpc>
                <a:spcPts val="2750"/>
              </a:lnSpc>
              <a:buNone/>
            </a:pPr>
            <a:r>
              <a:rPr lang="en-US" sz="2200" dirty="0">
                <a:solidFill>
                  <a:srgbClr val="C7CDD6"/>
                </a:solidFill>
                <a:latin typeface="Instrument Sans Medium" pitchFamily="34" charset="0"/>
                <a:ea typeface="Instrument Sans Medium" pitchFamily="34" charset="-122"/>
                <a:cs typeface="Instrument Sans Medium" pitchFamily="34" charset="-120"/>
              </a:rPr>
              <a:t>Target Balance</a:t>
            </a:r>
            <a:endParaRPr lang="en-US" sz="2200" dirty="0"/>
          </a:p>
        </p:txBody>
      </p:sp>
      <p:sp>
        <p:nvSpPr>
          <p:cNvPr id="16" name="Text 8"/>
          <p:cNvSpPr/>
          <p:nvPr/>
        </p:nvSpPr>
        <p:spPr>
          <a:xfrm>
            <a:off x="793790" y="5719405"/>
            <a:ext cx="3898702" cy="1451610"/>
          </a:xfrm>
          <a:prstGeom prst="rect">
            <a:avLst/>
          </a:prstGeom>
          <a:noFill/>
          <a:ln/>
        </p:spPr>
        <p:txBody>
          <a:bodyPr wrap="square" lIns="0" tIns="0" rIns="0" bIns="0" rtlCol="0" anchor="t"/>
          <a:lstStyle/>
          <a:p>
            <a:pPr algn="r" indent="0" marL="0">
              <a:lnSpc>
                <a:spcPts val="2850"/>
              </a:lnSpc>
              <a:buNone/>
            </a:pPr>
            <a:r>
              <a:rPr lang="en-US" sz="1750" dirty="0">
                <a:solidFill>
                  <a:srgbClr val="C7CDD6"/>
                </a:solidFill>
                <a:latin typeface="Inter" pitchFamily="34" charset="0"/>
                <a:ea typeface="Inter" pitchFamily="34" charset="-122"/>
                <a:cs typeface="Inter" pitchFamily="34" charset="-120"/>
              </a:rPr>
              <a:t>The target variable (cardio) was well-balanced in the dataset, allowing for effective model training without class imbalance issues.</a:t>
            </a:r>
            <a:endParaRPr lang="en-US" sz="1750" dirty="0"/>
          </a:p>
        </p:txBody>
      </p:sp>
      <p:pic>
        <p:nvPicPr>
          <p:cNvPr id="17" name="Image 6" descr="preencoded.png">    </p:cNvPr>
          <p:cNvPicPr>
            <a:picLocks noChangeAspect="1"/>
          </p:cNvPicPr>
          <p:nvPr/>
        </p:nvPicPr>
        <p:blipFill>
          <a:blip r:embed="rId7"/>
          <a:stretch>
            <a:fillRect/>
          </a:stretch>
        </p:blipFill>
        <p:spPr>
          <a:xfrm>
            <a:off x="5032653" y="2413516"/>
            <a:ext cx="4564975" cy="4564975"/>
          </a:xfrm>
          <a:prstGeom prst="rect">
            <a:avLst/>
          </a:prstGeom>
        </p:spPr>
      </p:pic>
      <p:pic>
        <p:nvPicPr>
          <p:cNvPr id="18" name="Image 7" descr="preencoded.png">    </p:cNvPr>
          <p:cNvPicPr>
            <a:picLocks noChangeAspect="1"/>
          </p:cNvPicPr>
          <p:nvPr/>
        </p:nvPicPr>
        <p:blipFill>
          <a:blip r:embed="rId8"/>
          <a:stretch>
            <a:fillRect/>
          </a:stretch>
        </p:blipFill>
        <p:spPr>
          <a:xfrm>
            <a:off x="6015633" y="5613559"/>
            <a:ext cx="339328" cy="4242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465415" y="471488"/>
            <a:ext cx="4822865" cy="415647"/>
          </a:xfrm>
          <a:prstGeom prst="rect">
            <a:avLst/>
          </a:prstGeom>
          <a:noFill/>
          <a:ln/>
        </p:spPr>
        <p:txBody>
          <a:bodyPr wrap="none" lIns="0" tIns="0" rIns="0" bIns="0" rtlCol="0" anchor="t"/>
          <a:lstStyle/>
          <a:p>
            <a:pPr algn="l" indent="0" marL="0">
              <a:lnSpc>
                <a:spcPts val="3250"/>
              </a:lnSpc>
              <a:buNone/>
            </a:pPr>
            <a:r>
              <a:rPr lang="en-US" sz="2600" dirty="0">
                <a:solidFill>
                  <a:srgbClr val="EFD5FA"/>
                </a:solidFill>
                <a:latin typeface="Instrument Sans Medium" pitchFamily="34" charset="0"/>
                <a:ea typeface="Instrument Sans Medium" pitchFamily="34" charset="-122"/>
                <a:cs typeface="Instrument Sans Medium" pitchFamily="34" charset="-120"/>
              </a:rPr>
              <a:t>Model Selection and Evaluation</a:t>
            </a:r>
            <a:endParaRPr lang="en-US" sz="2600" dirty="0"/>
          </a:p>
        </p:txBody>
      </p:sp>
      <p:sp>
        <p:nvSpPr>
          <p:cNvPr id="4" name="Text 1"/>
          <p:cNvSpPr/>
          <p:nvPr/>
        </p:nvSpPr>
        <p:spPr>
          <a:xfrm>
            <a:off x="465415" y="1153001"/>
            <a:ext cx="8213169" cy="438864"/>
          </a:xfrm>
          <a:prstGeom prst="rect">
            <a:avLst/>
          </a:prstGeom>
          <a:noFill/>
          <a:ln/>
        </p:spPr>
        <p:txBody>
          <a:bodyPr wrap="none" lIns="0" tIns="0" rIns="0" bIns="0" rtlCol="0" anchor="t"/>
          <a:lstStyle/>
          <a:p>
            <a:pPr algn="ctr" indent="0" marL="0">
              <a:lnSpc>
                <a:spcPts val="3450"/>
              </a:lnSpc>
              <a:buNone/>
            </a:pPr>
            <a:r>
              <a:rPr lang="en-US" sz="3450" dirty="0">
                <a:solidFill>
                  <a:srgbClr val="C7CDD6"/>
                </a:solidFill>
                <a:latin typeface="Instrument Sans Medium" pitchFamily="34" charset="0"/>
                <a:ea typeface="Instrument Sans Medium" pitchFamily="34" charset="-122"/>
                <a:cs typeface="Instrument Sans Medium" pitchFamily="34" charset="-120"/>
              </a:rPr>
              <a:t>74%</a:t>
            </a:r>
            <a:endParaRPr lang="en-US" sz="3450" dirty="0"/>
          </a:p>
        </p:txBody>
      </p:sp>
      <p:sp>
        <p:nvSpPr>
          <p:cNvPr id="5" name="Text 2"/>
          <p:cNvSpPr/>
          <p:nvPr/>
        </p:nvSpPr>
        <p:spPr>
          <a:xfrm>
            <a:off x="3740825" y="1757958"/>
            <a:ext cx="1662351" cy="207764"/>
          </a:xfrm>
          <a:prstGeom prst="rect">
            <a:avLst/>
          </a:prstGeom>
          <a:noFill/>
          <a:ln/>
        </p:spPr>
        <p:txBody>
          <a:bodyPr wrap="none" lIns="0" tIns="0" rIns="0" bIns="0" rtlCol="0" anchor="t"/>
          <a:lstStyle/>
          <a:p>
            <a:pPr algn="ctr" indent="0" marL="0">
              <a:lnSpc>
                <a:spcPts val="1600"/>
              </a:lnSpc>
              <a:buNone/>
            </a:pPr>
            <a:r>
              <a:rPr lang="en-US" sz="1300" dirty="0">
                <a:solidFill>
                  <a:srgbClr val="C7CDD6"/>
                </a:solidFill>
                <a:latin typeface="Instrument Sans Medium" pitchFamily="34" charset="0"/>
                <a:ea typeface="Instrument Sans Medium" pitchFamily="34" charset="-122"/>
                <a:cs typeface="Instrument Sans Medium" pitchFamily="34" charset="-120"/>
              </a:rPr>
              <a:t>Best Model Accuracy</a:t>
            </a:r>
            <a:endParaRPr lang="en-US" sz="1300" dirty="0"/>
          </a:p>
        </p:txBody>
      </p:sp>
      <p:sp>
        <p:nvSpPr>
          <p:cNvPr id="6" name="Text 3"/>
          <p:cNvSpPr/>
          <p:nvPr/>
        </p:nvSpPr>
        <p:spPr>
          <a:xfrm>
            <a:off x="465415" y="2045494"/>
            <a:ext cx="8213169" cy="212765"/>
          </a:xfrm>
          <a:prstGeom prst="rect">
            <a:avLst/>
          </a:prstGeom>
          <a:noFill/>
          <a:ln/>
        </p:spPr>
        <p:txBody>
          <a:bodyPr wrap="none" lIns="0" tIns="0" rIns="0" bIns="0" rtlCol="0" anchor="t"/>
          <a:lstStyle/>
          <a:p>
            <a:pPr algn="ctr" indent="0" marL="0">
              <a:lnSpc>
                <a:spcPts val="1650"/>
              </a:lnSpc>
              <a:buNone/>
            </a:pPr>
            <a:r>
              <a:rPr lang="en-US" sz="1000" dirty="0">
                <a:solidFill>
                  <a:srgbClr val="C7CDD6"/>
                </a:solidFill>
                <a:latin typeface="Inter" pitchFamily="34" charset="0"/>
                <a:ea typeface="Inter" pitchFamily="34" charset="-122"/>
                <a:cs typeface="Inter" pitchFamily="34" charset="-120"/>
              </a:rPr>
              <a:t>LightGBM model without the alcohol consumption feature</a:t>
            </a:r>
            <a:endParaRPr lang="en-US" sz="1000" dirty="0"/>
          </a:p>
        </p:txBody>
      </p:sp>
      <p:sp>
        <p:nvSpPr>
          <p:cNvPr id="7" name="Text 4"/>
          <p:cNvSpPr/>
          <p:nvPr/>
        </p:nvSpPr>
        <p:spPr>
          <a:xfrm>
            <a:off x="465415" y="2723674"/>
            <a:ext cx="8213169" cy="438864"/>
          </a:xfrm>
          <a:prstGeom prst="rect">
            <a:avLst/>
          </a:prstGeom>
          <a:noFill/>
          <a:ln/>
        </p:spPr>
        <p:txBody>
          <a:bodyPr wrap="none" lIns="0" tIns="0" rIns="0" bIns="0" rtlCol="0" anchor="t"/>
          <a:lstStyle/>
          <a:p>
            <a:pPr algn="ctr" indent="0" marL="0">
              <a:lnSpc>
                <a:spcPts val="3450"/>
              </a:lnSpc>
              <a:buNone/>
            </a:pPr>
            <a:r>
              <a:rPr lang="en-US" sz="3450" dirty="0">
                <a:solidFill>
                  <a:srgbClr val="C7CDD6"/>
                </a:solidFill>
                <a:latin typeface="Instrument Sans Medium" pitchFamily="34" charset="0"/>
                <a:ea typeface="Instrument Sans Medium" pitchFamily="34" charset="-122"/>
                <a:cs typeface="Instrument Sans Medium" pitchFamily="34" charset="-120"/>
              </a:rPr>
              <a:t>0.76</a:t>
            </a:r>
            <a:endParaRPr lang="en-US" sz="3450" dirty="0"/>
          </a:p>
        </p:txBody>
      </p:sp>
      <p:sp>
        <p:nvSpPr>
          <p:cNvPr id="8" name="Text 5"/>
          <p:cNvSpPr/>
          <p:nvPr/>
        </p:nvSpPr>
        <p:spPr>
          <a:xfrm>
            <a:off x="3740825" y="3328630"/>
            <a:ext cx="1662351" cy="207764"/>
          </a:xfrm>
          <a:prstGeom prst="rect">
            <a:avLst/>
          </a:prstGeom>
          <a:noFill/>
          <a:ln/>
        </p:spPr>
        <p:txBody>
          <a:bodyPr wrap="none" lIns="0" tIns="0" rIns="0" bIns="0" rtlCol="0" anchor="t"/>
          <a:lstStyle/>
          <a:p>
            <a:pPr algn="ctr" indent="0" marL="0">
              <a:lnSpc>
                <a:spcPts val="1600"/>
              </a:lnSpc>
              <a:buNone/>
            </a:pPr>
            <a:r>
              <a:rPr lang="en-US" sz="1300" dirty="0">
                <a:solidFill>
                  <a:srgbClr val="C7CDD6"/>
                </a:solidFill>
                <a:latin typeface="Instrument Sans Medium" pitchFamily="34" charset="0"/>
                <a:ea typeface="Instrument Sans Medium" pitchFamily="34" charset="-122"/>
                <a:cs typeface="Instrument Sans Medium" pitchFamily="34" charset="-120"/>
              </a:rPr>
              <a:t>Precision for CVD</a:t>
            </a:r>
            <a:endParaRPr lang="en-US" sz="1300" dirty="0"/>
          </a:p>
        </p:txBody>
      </p:sp>
      <p:sp>
        <p:nvSpPr>
          <p:cNvPr id="9" name="Text 6"/>
          <p:cNvSpPr/>
          <p:nvPr/>
        </p:nvSpPr>
        <p:spPr>
          <a:xfrm>
            <a:off x="465415" y="3616166"/>
            <a:ext cx="8213169" cy="212765"/>
          </a:xfrm>
          <a:prstGeom prst="rect">
            <a:avLst/>
          </a:prstGeom>
          <a:noFill/>
          <a:ln/>
        </p:spPr>
        <p:txBody>
          <a:bodyPr wrap="none" lIns="0" tIns="0" rIns="0" bIns="0" rtlCol="0" anchor="t"/>
          <a:lstStyle/>
          <a:p>
            <a:pPr algn="ctr" indent="0" marL="0">
              <a:lnSpc>
                <a:spcPts val="1650"/>
              </a:lnSpc>
              <a:buNone/>
            </a:pPr>
            <a:r>
              <a:rPr lang="en-US" sz="1000" dirty="0">
                <a:solidFill>
                  <a:srgbClr val="C7CDD6"/>
                </a:solidFill>
                <a:latin typeface="Inter" pitchFamily="34" charset="0"/>
                <a:ea typeface="Inter" pitchFamily="34" charset="-122"/>
                <a:cs typeface="Inter" pitchFamily="34" charset="-120"/>
              </a:rPr>
              <a:t>Ability to correctly identify positive cases</a:t>
            </a:r>
            <a:endParaRPr lang="en-US" sz="1000" dirty="0"/>
          </a:p>
        </p:txBody>
      </p:sp>
      <p:sp>
        <p:nvSpPr>
          <p:cNvPr id="10" name="Text 7"/>
          <p:cNvSpPr/>
          <p:nvPr/>
        </p:nvSpPr>
        <p:spPr>
          <a:xfrm>
            <a:off x="465415" y="4294346"/>
            <a:ext cx="8213169" cy="438864"/>
          </a:xfrm>
          <a:prstGeom prst="rect">
            <a:avLst/>
          </a:prstGeom>
          <a:noFill/>
          <a:ln/>
        </p:spPr>
        <p:txBody>
          <a:bodyPr wrap="none" lIns="0" tIns="0" rIns="0" bIns="0" rtlCol="0" anchor="t"/>
          <a:lstStyle/>
          <a:p>
            <a:pPr algn="ctr" indent="0" marL="0">
              <a:lnSpc>
                <a:spcPts val="3450"/>
              </a:lnSpc>
              <a:buNone/>
            </a:pPr>
            <a:r>
              <a:rPr lang="en-US" sz="3450" dirty="0">
                <a:solidFill>
                  <a:srgbClr val="C7CDD6"/>
                </a:solidFill>
                <a:latin typeface="Instrument Sans Medium" pitchFamily="34" charset="0"/>
                <a:ea typeface="Instrument Sans Medium" pitchFamily="34" charset="-122"/>
                <a:cs typeface="Instrument Sans Medium" pitchFamily="34" charset="-120"/>
              </a:rPr>
              <a:t>0.70</a:t>
            </a:r>
            <a:endParaRPr lang="en-US" sz="3450" dirty="0"/>
          </a:p>
        </p:txBody>
      </p:sp>
      <p:sp>
        <p:nvSpPr>
          <p:cNvPr id="11" name="Text 8"/>
          <p:cNvSpPr/>
          <p:nvPr/>
        </p:nvSpPr>
        <p:spPr>
          <a:xfrm>
            <a:off x="3740825" y="4899303"/>
            <a:ext cx="1662351" cy="207764"/>
          </a:xfrm>
          <a:prstGeom prst="rect">
            <a:avLst/>
          </a:prstGeom>
          <a:noFill/>
          <a:ln/>
        </p:spPr>
        <p:txBody>
          <a:bodyPr wrap="none" lIns="0" tIns="0" rIns="0" bIns="0" rtlCol="0" anchor="t"/>
          <a:lstStyle/>
          <a:p>
            <a:pPr algn="ctr" indent="0" marL="0">
              <a:lnSpc>
                <a:spcPts val="1600"/>
              </a:lnSpc>
              <a:buNone/>
            </a:pPr>
            <a:r>
              <a:rPr lang="en-US" sz="1300" dirty="0">
                <a:solidFill>
                  <a:srgbClr val="C7CDD6"/>
                </a:solidFill>
                <a:latin typeface="Instrument Sans Medium" pitchFamily="34" charset="0"/>
                <a:ea typeface="Instrument Sans Medium" pitchFamily="34" charset="-122"/>
                <a:cs typeface="Instrument Sans Medium" pitchFamily="34" charset="-120"/>
              </a:rPr>
              <a:t>Recall for CVD</a:t>
            </a:r>
            <a:endParaRPr lang="en-US" sz="1300" dirty="0"/>
          </a:p>
        </p:txBody>
      </p:sp>
      <p:sp>
        <p:nvSpPr>
          <p:cNvPr id="12" name="Text 9"/>
          <p:cNvSpPr/>
          <p:nvPr/>
        </p:nvSpPr>
        <p:spPr>
          <a:xfrm>
            <a:off x="465415" y="5186839"/>
            <a:ext cx="8213169" cy="212765"/>
          </a:xfrm>
          <a:prstGeom prst="rect">
            <a:avLst/>
          </a:prstGeom>
          <a:noFill/>
          <a:ln/>
        </p:spPr>
        <p:txBody>
          <a:bodyPr wrap="none" lIns="0" tIns="0" rIns="0" bIns="0" rtlCol="0" anchor="t"/>
          <a:lstStyle/>
          <a:p>
            <a:pPr algn="ctr" indent="0" marL="0">
              <a:lnSpc>
                <a:spcPts val="1650"/>
              </a:lnSpc>
              <a:buNone/>
            </a:pPr>
            <a:r>
              <a:rPr lang="en-US" sz="1000" dirty="0">
                <a:solidFill>
                  <a:srgbClr val="C7CDD6"/>
                </a:solidFill>
                <a:latin typeface="Inter" pitchFamily="34" charset="0"/>
                <a:ea typeface="Inter" pitchFamily="34" charset="-122"/>
                <a:cs typeface="Inter" pitchFamily="34" charset="-120"/>
              </a:rPr>
              <a:t>Proportion of actual positives correctly identified</a:t>
            </a:r>
            <a:endParaRPr lang="en-US" sz="1000" dirty="0"/>
          </a:p>
        </p:txBody>
      </p:sp>
      <p:sp>
        <p:nvSpPr>
          <p:cNvPr id="13" name="Text 10"/>
          <p:cNvSpPr/>
          <p:nvPr/>
        </p:nvSpPr>
        <p:spPr>
          <a:xfrm>
            <a:off x="465415" y="5865019"/>
            <a:ext cx="8213169" cy="438864"/>
          </a:xfrm>
          <a:prstGeom prst="rect">
            <a:avLst/>
          </a:prstGeom>
          <a:noFill/>
          <a:ln/>
        </p:spPr>
        <p:txBody>
          <a:bodyPr wrap="none" lIns="0" tIns="0" rIns="0" bIns="0" rtlCol="0" anchor="t"/>
          <a:lstStyle/>
          <a:p>
            <a:pPr algn="ctr" indent="0" marL="0">
              <a:lnSpc>
                <a:spcPts val="3450"/>
              </a:lnSpc>
              <a:buNone/>
            </a:pPr>
            <a:r>
              <a:rPr lang="en-US" sz="3450" dirty="0">
                <a:solidFill>
                  <a:srgbClr val="C7CDD6"/>
                </a:solidFill>
                <a:latin typeface="Instrument Sans Medium" pitchFamily="34" charset="0"/>
                <a:ea typeface="Instrument Sans Medium" pitchFamily="34" charset="-122"/>
                <a:cs typeface="Instrument Sans Medium" pitchFamily="34" charset="-120"/>
              </a:rPr>
              <a:t>0.73</a:t>
            </a:r>
            <a:endParaRPr lang="en-US" sz="3450" dirty="0"/>
          </a:p>
        </p:txBody>
      </p:sp>
      <p:sp>
        <p:nvSpPr>
          <p:cNvPr id="14" name="Text 11"/>
          <p:cNvSpPr/>
          <p:nvPr/>
        </p:nvSpPr>
        <p:spPr>
          <a:xfrm>
            <a:off x="3740825" y="6469975"/>
            <a:ext cx="1662351" cy="207764"/>
          </a:xfrm>
          <a:prstGeom prst="rect">
            <a:avLst/>
          </a:prstGeom>
          <a:noFill/>
          <a:ln/>
        </p:spPr>
        <p:txBody>
          <a:bodyPr wrap="none" lIns="0" tIns="0" rIns="0" bIns="0" rtlCol="0" anchor="t"/>
          <a:lstStyle/>
          <a:p>
            <a:pPr algn="ctr" indent="0" marL="0">
              <a:lnSpc>
                <a:spcPts val="1600"/>
              </a:lnSpc>
              <a:buNone/>
            </a:pPr>
            <a:r>
              <a:rPr lang="en-US" sz="1300" dirty="0">
                <a:solidFill>
                  <a:srgbClr val="C7CDD6"/>
                </a:solidFill>
                <a:latin typeface="Instrument Sans Medium" pitchFamily="34" charset="0"/>
                <a:ea typeface="Instrument Sans Medium" pitchFamily="34" charset="-122"/>
                <a:cs typeface="Instrument Sans Medium" pitchFamily="34" charset="-120"/>
              </a:rPr>
              <a:t>F1 Score</a:t>
            </a:r>
            <a:endParaRPr lang="en-US" sz="1300" dirty="0"/>
          </a:p>
        </p:txBody>
      </p:sp>
      <p:sp>
        <p:nvSpPr>
          <p:cNvPr id="15" name="Text 12"/>
          <p:cNvSpPr/>
          <p:nvPr/>
        </p:nvSpPr>
        <p:spPr>
          <a:xfrm>
            <a:off x="465415" y="6757511"/>
            <a:ext cx="8213169" cy="212765"/>
          </a:xfrm>
          <a:prstGeom prst="rect">
            <a:avLst/>
          </a:prstGeom>
          <a:noFill/>
          <a:ln/>
        </p:spPr>
        <p:txBody>
          <a:bodyPr wrap="none" lIns="0" tIns="0" rIns="0" bIns="0" rtlCol="0" anchor="t"/>
          <a:lstStyle/>
          <a:p>
            <a:pPr algn="ctr" indent="0" marL="0">
              <a:lnSpc>
                <a:spcPts val="1650"/>
              </a:lnSpc>
              <a:buNone/>
            </a:pPr>
            <a:r>
              <a:rPr lang="en-US" sz="1000" dirty="0">
                <a:solidFill>
                  <a:srgbClr val="C7CDD6"/>
                </a:solidFill>
                <a:latin typeface="Inter" pitchFamily="34" charset="0"/>
                <a:ea typeface="Inter" pitchFamily="34" charset="-122"/>
                <a:cs typeface="Inter" pitchFamily="34" charset="-120"/>
              </a:rPr>
              <a:t>Harmonic mean of precision and recall</a:t>
            </a:r>
            <a:endParaRPr lang="en-US" sz="1000" dirty="0"/>
          </a:p>
        </p:txBody>
      </p:sp>
      <p:sp>
        <p:nvSpPr>
          <p:cNvPr id="16" name="Text 13"/>
          <p:cNvSpPr/>
          <p:nvPr/>
        </p:nvSpPr>
        <p:spPr>
          <a:xfrm>
            <a:off x="465415" y="7119818"/>
            <a:ext cx="8213169" cy="638294"/>
          </a:xfrm>
          <a:prstGeom prst="rect">
            <a:avLst/>
          </a:prstGeom>
          <a:noFill/>
          <a:ln/>
        </p:spPr>
        <p:txBody>
          <a:bodyPr wrap="square" lIns="0" tIns="0" rIns="0" bIns="0" rtlCol="0" anchor="t"/>
          <a:lstStyle/>
          <a:p>
            <a:pPr algn="l" indent="0" marL="0">
              <a:lnSpc>
                <a:spcPts val="1650"/>
              </a:lnSpc>
              <a:buNone/>
            </a:pPr>
            <a:r>
              <a:rPr lang="en-US" sz="1000" dirty="0">
                <a:solidFill>
                  <a:srgbClr val="C7CDD6"/>
                </a:solidFill>
                <a:latin typeface="Inter" pitchFamily="34" charset="0"/>
                <a:ea typeface="Inter" pitchFamily="34" charset="-122"/>
                <a:cs typeface="Inter" pitchFamily="34" charset="-120"/>
              </a:rPr>
              <a:t>Multiple classification models were evaluated including Logistic Regression, Random Forest, Gradient Boosting, XGBoost, LightGBM, Naive Bayes, SVM, and Decision Tree. After extensive testing and parameter tuning using RandomizedSearchCV, the LightGBM model without the alcohol consumption feature was selected as the best performer with an F1 score of 0.73.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395299"/>
          </a:xfrm>
          <a:prstGeom prst="rect">
            <a:avLst/>
          </a:prstGeom>
        </p:spPr>
      </p:pic>
      <p:sp>
        <p:nvSpPr>
          <p:cNvPr id="3" name="Text 0"/>
          <p:cNvSpPr/>
          <p:nvPr/>
        </p:nvSpPr>
        <p:spPr>
          <a:xfrm>
            <a:off x="670679" y="2922270"/>
            <a:ext cx="7207806" cy="598884"/>
          </a:xfrm>
          <a:prstGeom prst="rect">
            <a:avLst/>
          </a:prstGeom>
          <a:noFill/>
          <a:ln/>
        </p:spPr>
        <p:txBody>
          <a:bodyPr wrap="none" lIns="0" tIns="0" rIns="0" bIns="0" rtlCol="0" anchor="t"/>
          <a:lstStyle/>
          <a:p>
            <a:pPr algn="l" indent="0" marL="0">
              <a:lnSpc>
                <a:spcPts val="4700"/>
              </a:lnSpc>
              <a:buNone/>
            </a:pPr>
            <a:r>
              <a:rPr lang="en-US" sz="3750" dirty="0">
                <a:solidFill>
                  <a:srgbClr val="EFD5FA"/>
                </a:solidFill>
                <a:latin typeface="Instrument Sans Medium" pitchFamily="34" charset="0"/>
                <a:ea typeface="Instrument Sans Medium" pitchFamily="34" charset="-122"/>
                <a:cs typeface="Instrument Sans Medium" pitchFamily="34" charset="-120"/>
              </a:rPr>
              <a:t>Model Tracking and Deployment</a:t>
            </a:r>
            <a:endParaRPr lang="en-US" sz="3750" dirty="0"/>
          </a:p>
        </p:txBody>
      </p:sp>
      <p:sp>
        <p:nvSpPr>
          <p:cNvPr id="4" name="Shape 1"/>
          <p:cNvSpPr/>
          <p:nvPr/>
        </p:nvSpPr>
        <p:spPr>
          <a:xfrm>
            <a:off x="670679" y="5909548"/>
            <a:ext cx="13289042" cy="22860"/>
          </a:xfrm>
          <a:prstGeom prst="roundRect">
            <a:avLst>
              <a:gd name="adj" fmla="val 125743"/>
            </a:avLst>
          </a:prstGeom>
          <a:solidFill>
            <a:srgbClr val="5C5C61"/>
          </a:solidFill>
          <a:ln/>
        </p:spPr>
      </p:sp>
      <p:sp>
        <p:nvSpPr>
          <p:cNvPr id="5" name="Shape 2"/>
          <p:cNvSpPr/>
          <p:nvPr/>
        </p:nvSpPr>
        <p:spPr>
          <a:xfrm>
            <a:off x="3933468" y="5334774"/>
            <a:ext cx="22860" cy="574834"/>
          </a:xfrm>
          <a:prstGeom prst="roundRect">
            <a:avLst>
              <a:gd name="adj" fmla="val 125743"/>
            </a:avLst>
          </a:prstGeom>
          <a:solidFill>
            <a:srgbClr val="5C5C61"/>
          </a:solidFill>
          <a:ln/>
        </p:spPr>
      </p:sp>
      <p:sp>
        <p:nvSpPr>
          <p:cNvPr id="6" name="Shape 3"/>
          <p:cNvSpPr/>
          <p:nvPr/>
        </p:nvSpPr>
        <p:spPr>
          <a:xfrm>
            <a:off x="3729395" y="5693985"/>
            <a:ext cx="431125" cy="431125"/>
          </a:xfrm>
          <a:prstGeom prst="roundRect">
            <a:avLst>
              <a:gd name="adj" fmla="val 6667"/>
            </a:avLst>
          </a:prstGeom>
          <a:solidFill>
            <a:srgbClr val="434348"/>
          </a:solidFill>
          <a:ln/>
        </p:spPr>
      </p:sp>
      <p:pic>
        <p:nvPicPr>
          <p:cNvPr id="7" name="Image 1" descr="preencoded.png">    </p:cNvPr>
          <p:cNvPicPr>
            <a:picLocks noChangeAspect="1"/>
          </p:cNvPicPr>
          <p:nvPr/>
        </p:nvPicPr>
        <p:blipFill>
          <a:blip r:embed="rId2"/>
          <a:stretch>
            <a:fillRect/>
          </a:stretch>
        </p:blipFill>
        <p:spPr>
          <a:xfrm>
            <a:off x="3801189" y="5729883"/>
            <a:ext cx="287417" cy="359212"/>
          </a:xfrm>
          <a:prstGeom prst="rect">
            <a:avLst/>
          </a:prstGeom>
        </p:spPr>
      </p:pic>
      <p:sp>
        <p:nvSpPr>
          <p:cNvPr id="8" name="Text 4"/>
          <p:cNvSpPr/>
          <p:nvPr/>
        </p:nvSpPr>
        <p:spPr>
          <a:xfrm>
            <a:off x="2747367" y="3808571"/>
            <a:ext cx="2395299" cy="299442"/>
          </a:xfrm>
          <a:prstGeom prst="rect">
            <a:avLst/>
          </a:prstGeom>
          <a:noFill/>
          <a:ln/>
        </p:spPr>
        <p:txBody>
          <a:bodyPr wrap="none" lIns="0" tIns="0" rIns="0" bIns="0" rtlCol="0" anchor="t"/>
          <a:lstStyle/>
          <a:p>
            <a:pPr algn="ctr" indent="0" marL="0">
              <a:lnSpc>
                <a:spcPts val="235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MLflow Integration</a:t>
            </a:r>
            <a:endParaRPr lang="en-US" sz="1850" dirty="0"/>
          </a:p>
        </p:txBody>
      </p:sp>
      <p:sp>
        <p:nvSpPr>
          <p:cNvPr id="9" name="Text 5"/>
          <p:cNvSpPr/>
          <p:nvPr/>
        </p:nvSpPr>
        <p:spPr>
          <a:xfrm>
            <a:off x="862251" y="4222909"/>
            <a:ext cx="6165533" cy="920115"/>
          </a:xfrm>
          <a:prstGeom prst="rect">
            <a:avLst/>
          </a:prstGeom>
          <a:noFill/>
          <a:ln/>
        </p:spPr>
        <p:txBody>
          <a:bodyPr wrap="square" lIns="0" tIns="0" rIns="0" bIns="0" rtlCol="0" anchor="t"/>
          <a:lstStyle/>
          <a:p>
            <a:pPr algn="ctr" indent="0" marL="0">
              <a:lnSpc>
                <a:spcPts val="2400"/>
              </a:lnSpc>
              <a:buNone/>
            </a:pPr>
            <a:r>
              <a:rPr lang="en-US" sz="1500" dirty="0">
                <a:solidFill>
                  <a:srgbClr val="C7CDD6"/>
                </a:solidFill>
                <a:latin typeface="Inter" pitchFamily="34" charset="0"/>
                <a:ea typeface="Inter" pitchFamily="34" charset="-122"/>
                <a:cs typeface="Inter" pitchFamily="34" charset="-120"/>
              </a:rPr>
              <a:t>MLflow was implemented to track model performance, parameters, and metrics across all experiments, enabling better reproducibility and comparison.</a:t>
            </a:r>
            <a:endParaRPr lang="en-US" sz="1500" dirty="0"/>
          </a:p>
        </p:txBody>
      </p:sp>
      <p:sp>
        <p:nvSpPr>
          <p:cNvPr id="10" name="Shape 6"/>
          <p:cNvSpPr/>
          <p:nvPr/>
        </p:nvSpPr>
        <p:spPr>
          <a:xfrm>
            <a:off x="7303532" y="5909489"/>
            <a:ext cx="22860" cy="574834"/>
          </a:xfrm>
          <a:prstGeom prst="roundRect">
            <a:avLst>
              <a:gd name="adj" fmla="val 125743"/>
            </a:avLst>
          </a:prstGeom>
          <a:solidFill>
            <a:srgbClr val="5C5C61"/>
          </a:solidFill>
          <a:ln/>
        </p:spPr>
      </p:sp>
      <p:sp>
        <p:nvSpPr>
          <p:cNvPr id="11" name="Shape 7"/>
          <p:cNvSpPr/>
          <p:nvPr/>
        </p:nvSpPr>
        <p:spPr>
          <a:xfrm>
            <a:off x="7099459" y="5693985"/>
            <a:ext cx="431125" cy="431125"/>
          </a:xfrm>
          <a:prstGeom prst="roundRect">
            <a:avLst>
              <a:gd name="adj" fmla="val 6667"/>
            </a:avLst>
          </a:prstGeom>
          <a:solidFill>
            <a:srgbClr val="434348"/>
          </a:solidFill>
          <a:ln/>
        </p:spPr>
      </p:sp>
      <p:pic>
        <p:nvPicPr>
          <p:cNvPr id="12" name="Image 2" descr="preencoded.png">    </p:cNvPr>
          <p:cNvPicPr>
            <a:picLocks noChangeAspect="1"/>
          </p:cNvPicPr>
          <p:nvPr/>
        </p:nvPicPr>
        <p:blipFill>
          <a:blip r:embed="rId3"/>
          <a:stretch>
            <a:fillRect/>
          </a:stretch>
        </p:blipFill>
        <p:spPr>
          <a:xfrm>
            <a:off x="7171253" y="5729883"/>
            <a:ext cx="287417" cy="359212"/>
          </a:xfrm>
          <a:prstGeom prst="rect">
            <a:avLst/>
          </a:prstGeom>
        </p:spPr>
      </p:pic>
      <p:sp>
        <p:nvSpPr>
          <p:cNvPr id="13" name="Text 8"/>
          <p:cNvSpPr/>
          <p:nvPr/>
        </p:nvSpPr>
        <p:spPr>
          <a:xfrm>
            <a:off x="6117431" y="6676073"/>
            <a:ext cx="2395299" cy="299442"/>
          </a:xfrm>
          <a:prstGeom prst="rect">
            <a:avLst/>
          </a:prstGeom>
          <a:noFill/>
          <a:ln/>
        </p:spPr>
        <p:txBody>
          <a:bodyPr wrap="none" lIns="0" tIns="0" rIns="0" bIns="0" rtlCol="0" anchor="t"/>
          <a:lstStyle/>
          <a:p>
            <a:pPr algn="ctr" indent="0" marL="0">
              <a:lnSpc>
                <a:spcPts val="235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Model Serialization</a:t>
            </a:r>
            <a:endParaRPr lang="en-US" sz="1850" dirty="0"/>
          </a:p>
        </p:txBody>
      </p:sp>
      <p:sp>
        <p:nvSpPr>
          <p:cNvPr id="14" name="Text 9"/>
          <p:cNvSpPr/>
          <p:nvPr/>
        </p:nvSpPr>
        <p:spPr>
          <a:xfrm>
            <a:off x="4232315" y="7090410"/>
            <a:ext cx="6165652" cy="613410"/>
          </a:xfrm>
          <a:prstGeom prst="rect">
            <a:avLst/>
          </a:prstGeom>
          <a:noFill/>
          <a:ln/>
        </p:spPr>
        <p:txBody>
          <a:bodyPr wrap="square" lIns="0" tIns="0" rIns="0" bIns="0" rtlCol="0" anchor="t"/>
          <a:lstStyle/>
          <a:p>
            <a:pPr algn="ctr" indent="0" marL="0">
              <a:lnSpc>
                <a:spcPts val="2400"/>
              </a:lnSpc>
              <a:buNone/>
            </a:pPr>
            <a:r>
              <a:rPr lang="en-US" sz="1500" dirty="0">
                <a:solidFill>
                  <a:srgbClr val="C7CDD6"/>
                </a:solidFill>
                <a:latin typeface="Inter" pitchFamily="34" charset="0"/>
                <a:ea typeface="Inter" pitchFamily="34" charset="-122"/>
                <a:cs typeface="Inter" pitchFamily="34" charset="-120"/>
              </a:rPr>
              <a:t>The best performing LightGBM model and standardization parameters were serialized as PKL files for deployment.</a:t>
            </a:r>
            <a:endParaRPr lang="en-US" sz="1500" dirty="0"/>
          </a:p>
        </p:txBody>
      </p:sp>
      <p:sp>
        <p:nvSpPr>
          <p:cNvPr id="15" name="Shape 10"/>
          <p:cNvSpPr/>
          <p:nvPr/>
        </p:nvSpPr>
        <p:spPr>
          <a:xfrm>
            <a:off x="10673715" y="5334774"/>
            <a:ext cx="22860" cy="574834"/>
          </a:xfrm>
          <a:prstGeom prst="roundRect">
            <a:avLst>
              <a:gd name="adj" fmla="val 125743"/>
            </a:avLst>
          </a:prstGeom>
          <a:solidFill>
            <a:srgbClr val="5C5C61"/>
          </a:solidFill>
          <a:ln/>
        </p:spPr>
      </p:sp>
      <p:sp>
        <p:nvSpPr>
          <p:cNvPr id="16" name="Shape 11"/>
          <p:cNvSpPr/>
          <p:nvPr/>
        </p:nvSpPr>
        <p:spPr>
          <a:xfrm>
            <a:off x="10469642" y="5693985"/>
            <a:ext cx="431125" cy="431125"/>
          </a:xfrm>
          <a:prstGeom prst="roundRect">
            <a:avLst>
              <a:gd name="adj" fmla="val 6667"/>
            </a:avLst>
          </a:prstGeom>
          <a:solidFill>
            <a:srgbClr val="434348"/>
          </a:solidFill>
          <a:ln/>
        </p:spPr>
      </p:sp>
      <p:pic>
        <p:nvPicPr>
          <p:cNvPr id="17" name="Image 3" descr="preencoded.png">    </p:cNvPr>
          <p:cNvPicPr>
            <a:picLocks noChangeAspect="1"/>
          </p:cNvPicPr>
          <p:nvPr/>
        </p:nvPicPr>
        <p:blipFill>
          <a:blip r:embed="rId4"/>
          <a:stretch>
            <a:fillRect/>
          </a:stretch>
        </p:blipFill>
        <p:spPr>
          <a:xfrm>
            <a:off x="10541437" y="5729883"/>
            <a:ext cx="287417" cy="359212"/>
          </a:xfrm>
          <a:prstGeom prst="rect">
            <a:avLst/>
          </a:prstGeom>
        </p:spPr>
      </p:pic>
      <p:sp>
        <p:nvSpPr>
          <p:cNvPr id="18" name="Text 12"/>
          <p:cNvSpPr/>
          <p:nvPr/>
        </p:nvSpPr>
        <p:spPr>
          <a:xfrm>
            <a:off x="9487614" y="3808571"/>
            <a:ext cx="2395299" cy="299442"/>
          </a:xfrm>
          <a:prstGeom prst="rect">
            <a:avLst/>
          </a:prstGeom>
          <a:noFill/>
          <a:ln/>
        </p:spPr>
        <p:txBody>
          <a:bodyPr wrap="none" lIns="0" tIns="0" rIns="0" bIns="0" rtlCol="0" anchor="t"/>
          <a:lstStyle/>
          <a:p>
            <a:pPr algn="ctr" indent="0" marL="0">
              <a:lnSpc>
                <a:spcPts val="2350"/>
              </a:lnSpc>
              <a:buNone/>
            </a:pPr>
            <a:r>
              <a:rPr lang="en-US" sz="1850" dirty="0">
                <a:solidFill>
                  <a:srgbClr val="C7CDD6"/>
                </a:solidFill>
                <a:latin typeface="Instrument Sans Medium" pitchFamily="34" charset="0"/>
                <a:ea typeface="Instrument Sans Medium" pitchFamily="34" charset="-122"/>
                <a:cs typeface="Instrument Sans Medium" pitchFamily="34" charset="-120"/>
              </a:rPr>
              <a:t>Streamlit Application</a:t>
            </a:r>
            <a:endParaRPr lang="en-US" sz="1850" dirty="0"/>
          </a:p>
        </p:txBody>
      </p:sp>
      <p:sp>
        <p:nvSpPr>
          <p:cNvPr id="19" name="Text 13"/>
          <p:cNvSpPr/>
          <p:nvPr/>
        </p:nvSpPr>
        <p:spPr>
          <a:xfrm>
            <a:off x="7602498" y="4222909"/>
            <a:ext cx="6165652" cy="920115"/>
          </a:xfrm>
          <a:prstGeom prst="rect">
            <a:avLst/>
          </a:prstGeom>
          <a:noFill/>
          <a:ln/>
        </p:spPr>
        <p:txBody>
          <a:bodyPr wrap="square" lIns="0" tIns="0" rIns="0" bIns="0" rtlCol="0" anchor="t"/>
          <a:lstStyle/>
          <a:p>
            <a:pPr algn="ctr" indent="0" marL="0">
              <a:lnSpc>
                <a:spcPts val="2400"/>
              </a:lnSpc>
              <a:buNone/>
            </a:pPr>
            <a:r>
              <a:rPr lang="en-US" sz="1500" dirty="0">
                <a:solidFill>
                  <a:srgbClr val="C7CDD6"/>
                </a:solidFill>
                <a:latin typeface="Inter" pitchFamily="34" charset="0"/>
                <a:ea typeface="Inter" pitchFamily="34" charset="-122"/>
                <a:cs typeface="Inter" pitchFamily="34" charset="-120"/>
              </a:rPr>
              <a:t>A user-friendly web interface was created using Streamlit, allowing healthcare professionals to input patient data and receive cardiovascular risk predictions.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0801" y="842724"/>
            <a:ext cx="6523196" cy="616863"/>
          </a:xfrm>
          <a:prstGeom prst="rect">
            <a:avLst/>
          </a:prstGeom>
          <a:noFill/>
          <a:ln/>
        </p:spPr>
        <p:txBody>
          <a:bodyPr wrap="none" lIns="0" tIns="0" rIns="0" bIns="0" rtlCol="0" anchor="t"/>
          <a:lstStyle/>
          <a:p>
            <a:pPr algn="l" indent="0" marL="0">
              <a:lnSpc>
                <a:spcPts val="4850"/>
              </a:lnSpc>
              <a:buNone/>
            </a:pPr>
            <a:r>
              <a:rPr lang="en-US" sz="3850" dirty="0">
                <a:solidFill>
                  <a:srgbClr val="EFD5FA"/>
                </a:solidFill>
                <a:latin typeface="Instrument Sans Medium" pitchFamily="34" charset="0"/>
                <a:ea typeface="Instrument Sans Medium" pitchFamily="34" charset="-122"/>
                <a:cs typeface="Instrument Sans Medium" pitchFamily="34" charset="-120"/>
              </a:rPr>
              <a:t>Conclusion and Future Work</a:t>
            </a:r>
            <a:endParaRPr lang="en-US" sz="3850" dirty="0"/>
          </a:p>
        </p:txBody>
      </p:sp>
      <p:pic>
        <p:nvPicPr>
          <p:cNvPr id="3" name="Image 0" descr="preencoded.png">    </p:cNvPr>
          <p:cNvPicPr>
            <a:picLocks noChangeAspect="1"/>
          </p:cNvPicPr>
          <p:nvPr/>
        </p:nvPicPr>
        <p:blipFill>
          <a:blip r:embed="rId1"/>
          <a:stretch>
            <a:fillRect/>
          </a:stretch>
        </p:blipFill>
        <p:spPr>
          <a:xfrm>
            <a:off x="2909888" y="1854279"/>
            <a:ext cx="2185988" cy="1137047"/>
          </a:xfrm>
          <a:prstGeom prst="rect">
            <a:avLst/>
          </a:prstGeom>
        </p:spPr>
      </p:pic>
      <p:pic>
        <p:nvPicPr>
          <p:cNvPr id="4" name="Image 1" descr="preencoded.png">    </p:cNvPr>
          <p:cNvPicPr>
            <a:picLocks noChangeAspect="1"/>
          </p:cNvPicPr>
          <p:nvPr/>
        </p:nvPicPr>
        <p:blipFill>
          <a:blip r:embed="rId2"/>
          <a:stretch>
            <a:fillRect/>
          </a:stretch>
        </p:blipFill>
        <p:spPr>
          <a:xfrm>
            <a:off x="3864054" y="2390299"/>
            <a:ext cx="277535" cy="346948"/>
          </a:xfrm>
          <a:prstGeom prst="rect">
            <a:avLst/>
          </a:prstGeom>
        </p:spPr>
      </p:pic>
      <p:sp>
        <p:nvSpPr>
          <p:cNvPr id="5" name="Text 1"/>
          <p:cNvSpPr/>
          <p:nvPr/>
        </p:nvSpPr>
        <p:spPr>
          <a:xfrm>
            <a:off x="5293162" y="2051566"/>
            <a:ext cx="2467451" cy="308372"/>
          </a:xfrm>
          <a:prstGeom prst="rect">
            <a:avLst/>
          </a:prstGeom>
          <a:noFill/>
          <a:ln/>
        </p:spPr>
        <p:txBody>
          <a:bodyPr wrap="none" lIns="0" tIns="0" rIns="0" bIns="0" rtlCol="0" anchor="t"/>
          <a:lstStyle/>
          <a:p>
            <a:pPr algn="l" indent="0" marL="0">
              <a:lnSpc>
                <a:spcPts val="2400"/>
              </a:lnSpc>
              <a:buNone/>
            </a:pPr>
            <a:r>
              <a:rPr lang="en-US" sz="1900" dirty="0">
                <a:solidFill>
                  <a:srgbClr val="C7CDD6"/>
                </a:solidFill>
                <a:latin typeface="Instrument Sans Medium" pitchFamily="34" charset="0"/>
                <a:ea typeface="Instrument Sans Medium" pitchFamily="34" charset="-122"/>
                <a:cs typeface="Instrument Sans Medium" pitchFamily="34" charset="-120"/>
              </a:rPr>
              <a:t>Accurate Prediction</a:t>
            </a:r>
            <a:endParaRPr lang="en-US" sz="1900" dirty="0"/>
          </a:p>
        </p:txBody>
      </p:sp>
      <p:sp>
        <p:nvSpPr>
          <p:cNvPr id="6" name="Text 2"/>
          <p:cNvSpPr/>
          <p:nvPr/>
        </p:nvSpPr>
        <p:spPr>
          <a:xfrm>
            <a:off x="5293162" y="2478286"/>
            <a:ext cx="5310068" cy="315754"/>
          </a:xfrm>
          <a:prstGeom prst="rect">
            <a:avLst/>
          </a:prstGeom>
          <a:noFill/>
          <a:ln/>
        </p:spPr>
        <p:txBody>
          <a:bodyPr wrap="none" lIns="0" tIns="0" rIns="0" bIns="0" rtlCol="0" anchor="t"/>
          <a:lstStyle/>
          <a:p>
            <a:pPr algn="l" indent="0" marL="0">
              <a:lnSpc>
                <a:spcPts val="2450"/>
              </a:lnSpc>
              <a:buNone/>
            </a:pPr>
            <a:r>
              <a:rPr lang="en-US" sz="1550" dirty="0">
                <a:solidFill>
                  <a:srgbClr val="C7CDD6"/>
                </a:solidFill>
                <a:latin typeface="Inter" pitchFamily="34" charset="0"/>
                <a:ea typeface="Inter" pitchFamily="34" charset="-122"/>
                <a:cs typeface="Inter" pitchFamily="34" charset="-120"/>
              </a:rPr>
              <a:t>74% accuracy in cardiovascular disease risk assessment</a:t>
            </a:r>
            <a:endParaRPr lang="en-US" sz="1550" dirty="0"/>
          </a:p>
        </p:txBody>
      </p:sp>
      <p:sp>
        <p:nvSpPr>
          <p:cNvPr id="7" name="Shape 3"/>
          <p:cNvSpPr/>
          <p:nvPr/>
        </p:nvSpPr>
        <p:spPr>
          <a:xfrm>
            <a:off x="5145167" y="3006447"/>
            <a:ext cx="8745141" cy="11430"/>
          </a:xfrm>
          <a:prstGeom prst="roundRect">
            <a:avLst>
              <a:gd name="adj" fmla="val 259050"/>
            </a:avLst>
          </a:prstGeom>
          <a:solidFill>
            <a:srgbClr val="5C5C61"/>
          </a:solidFill>
          <a:ln/>
        </p:spPr>
      </p:sp>
      <p:pic>
        <p:nvPicPr>
          <p:cNvPr id="8" name="Image 2" descr="preencoded.png">    </p:cNvPr>
          <p:cNvPicPr>
            <a:picLocks noChangeAspect="1"/>
          </p:cNvPicPr>
          <p:nvPr/>
        </p:nvPicPr>
        <p:blipFill>
          <a:blip r:embed="rId3"/>
          <a:stretch>
            <a:fillRect/>
          </a:stretch>
        </p:blipFill>
        <p:spPr>
          <a:xfrm>
            <a:off x="1816894" y="3040618"/>
            <a:ext cx="4372094" cy="1137047"/>
          </a:xfrm>
          <a:prstGeom prst="rect">
            <a:avLst/>
          </a:prstGeom>
        </p:spPr>
      </p:pic>
      <p:pic>
        <p:nvPicPr>
          <p:cNvPr id="9" name="Image 3" descr="preencoded.png">    </p:cNvPr>
          <p:cNvPicPr>
            <a:picLocks noChangeAspect="1"/>
          </p:cNvPicPr>
          <p:nvPr/>
        </p:nvPicPr>
        <p:blipFill>
          <a:blip r:embed="rId4"/>
          <a:stretch>
            <a:fillRect/>
          </a:stretch>
        </p:blipFill>
        <p:spPr>
          <a:xfrm>
            <a:off x="3864173" y="3435668"/>
            <a:ext cx="277535" cy="346948"/>
          </a:xfrm>
          <a:prstGeom prst="rect">
            <a:avLst/>
          </a:prstGeom>
        </p:spPr>
      </p:pic>
      <p:sp>
        <p:nvSpPr>
          <p:cNvPr id="10" name="Text 4"/>
          <p:cNvSpPr/>
          <p:nvPr/>
        </p:nvSpPr>
        <p:spPr>
          <a:xfrm>
            <a:off x="6386274" y="3237905"/>
            <a:ext cx="2467451" cy="308372"/>
          </a:xfrm>
          <a:prstGeom prst="rect">
            <a:avLst/>
          </a:prstGeom>
          <a:noFill/>
          <a:ln/>
        </p:spPr>
        <p:txBody>
          <a:bodyPr wrap="none" lIns="0" tIns="0" rIns="0" bIns="0" rtlCol="0" anchor="t"/>
          <a:lstStyle/>
          <a:p>
            <a:pPr algn="l" indent="0" marL="0">
              <a:lnSpc>
                <a:spcPts val="2400"/>
              </a:lnSpc>
              <a:buNone/>
            </a:pPr>
            <a:r>
              <a:rPr lang="en-US" sz="1900" dirty="0">
                <a:solidFill>
                  <a:srgbClr val="C7CDD6"/>
                </a:solidFill>
                <a:latin typeface="Instrument Sans Medium" pitchFamily="34" charset="0"/>
                <a:ea typeface="Instrument Sans Medium" pitchFamily="34" charset="-122"/>
                <a:cs typeface="Instrument Sans Medium" pitchFamily="34" charset="-120"/>
              </a:rPr>
              <a:t>Key Risk Factors</a:t>
            </a:r>
            <a:endParaRPr lang="en-US" sz="1900" dirty="0"/>
          </a:p>
        </p:txBody>
      </p:sp>
      <p:sp>
        <p:nvSpPr>
          <p:cNvPr id="11" name="Text 5"/>
          <p:cNvSpPr/>
          <p:nvPr/>
        </p:nvSpPr>
        <p:spPr>
          <a:xfrm>
            <a:off x="6386274" y="3664625"/>
            <a:ext cx="5875496" cy="315754"/>
          </a:xfrm>
          <a:prstGeom prst="rect">
            <a:avLst/>
          </a:prstGeom>
          <a:noFill/>
          <a:ln/>
        </p:spPr>
        <p:txBody>
          <a:bodyPr wrap="none" lIns="0" tIns="0" rIns="0" bIns="0" rtlCol="0" anchor="t"/>
          <a:lstStyle/>
          <a:p>
            <a:pPr algn="l" indent="0" marL="0">
              <a:lnSpc>
                <a:spcPts val="2450"/>
              </a:lnSpc>
              <a:buNone/>
            </a:pPr>
            <a:r>
              <a:rPr lang="en-US" sz="1550" dirty="0">
                <a:solidFill>
                  <a:srgbClr val="C7CDD6"/>
                </a:solidFill>
                <a:latin typeface="Inter" pitchFamily="34" charset="0"/>
                <a:ea typeface="Inter" pitchFamily="34" charset="-122"/>
                <a:cs typeface="Inter" pitchFamily="34" charset="-120"/>
              </a:rPr>
              <a:t>Blood pressure, age, and BMI identified as strongest predictors</a:t>
            </a:r>
            <a:endParaRPr lang="en-US" sz="1550" dirty="0"/>
          </a:p>
        </p:txBody>
      </p:sp>
      <p:sp>
        <p:nvSpPr>
          <p:cNvPr id="12" name="Shape 6"/>
          <p:cNvSpPr/>
          <p:nvPr/>
        </p:nvSpPr>
        <p:spPr>
          <a:xfrm>
            <a:off x="6238280" y="4192786"/>
            <a:ext cx="7652028" cy="11430"/>
          </a:xfrm>
          <a:prstGeom prst="roundRect">
            <a:avLst>
              <a:gd name="adj" fmla="val 259050"/>
            </a:avLst>
          </a:prstGeom>
          <a:solidFill>
            <a:srgbClr val="5C5C61"/>
          </a:solidFill>
          <a:ln/>
        </p:spPr>
      </p:sp>
      <p:pic>
        <p:nvPicPr>
          <p:cNvPr id="13" name="Image 4" descr="preencoded.png">    </p:cNvPr>
          <p:cNvPicPr>
            <a:picLocks noChangeAspect="1"/>
          </p:cNvPicPr>
          <p:nvPr/>
        </p:nvPicPr>
        <p:blipFill>
          <a:blip r:embed="rId5"/>
          <a:stretch>
            <a:fillRect/>
          </a:stretch>
        </p:blipFill>
        <p:spPr>
          <a:xfrm>
            <a:off x="723900" y="4226957"/>
            <a:ext cx="6558082" cy="1137047"/>
          </a:xfrm>
          <a:prstGeom prst="rect">
            <a:avLst/>
          </a:prstGeom>
        </p:spPr>
      </p:pic>
      <p:pic>
        <p:nvPicPr>
          <p:cNvPr id="14" name="Image 5" descr="preencoded.png">    </p:cNvPr>
          <p:cNvPicPr>
            <a:picLocks noChangeAspect="1"/>
          </p:cNvPicPr>
          <p:nvPr/>
        </p:nvPicPr>
        <p:blipFill>
          <a:blip r:embed="rId6"/>
          <a:stretch>
            <a:fillRect/>
          </a:stretch>
        </p:blipFill>
        <p:spPr>
          <a:xfrm>
            <a:off x="3864054" y="4622006"/>
            <a:ext cx="277535" cy="346948"/>
          </a:xfrm>
          <a:prstGeom prst="rect">
            <a:avLst/>
          </a:prstGeom>
        </p:spPr>
      </p:pic>
      <p:sp>
        <p:nvSpPr>
          <p:cNvPr id="15" name="Text 7"/>
          <p:cNvSpPr/>
          <p:nvPr/>
        </p:nvSpPr>
        <p:spPr>
          <a:xfrm>
            <a:off x="7479268" y="4424243"/>
            <a:ext cx="2467451" cy="308372"/>
          </a:xfrm>
          <a:prstGeom prst="rect">
            <a:avLst/>
          </a:prstGeom>
          <a:noFill/>
          <a:ln/>
        </p:spPr>
        <p:txBody>
          <a:bodyPr wrap="none" lIns="0" tIns="0" rIns="0" bIns="0" rtlCol="0" anchor="t"/>
          <a:lstStyle/>
          <a:p>
            <a:pPr algn="l" indent="0" marL="0">
              <a:lnSpc>
                <a:spcPts val="2400"/>
              </a:lnSpc>
              <a:buNone/>
            </a:pPr>
            <a:r>
              <a:rPr lang="en-US" sz="1900" dirty="0">
                <a:solidFill>
                  <a:srgbClr val="C7CDD6"/>
                </a:solidFill>
                <a:latin typeface="Instrument Sans Medium" pitchFamily="34" charset="0"/>
                <a:ea typeface="Instrument Sans Medium" pitchFamily="34" charset="-122"/>
                <a:cs typeface="Instrument Sans Medium" pitchFamily="34" charset="-120"/>
              </a:rPr>
              <a:t>Practical Application</a:t>
            </a:r>
            <a:endParaRPr lang="en-US" sz="1900" dirty="0"/>
          </a:p>
        </p:txBody>
      </p:sp>
      <p:sp>
        <p:nvSpPr>
          <p:cNvPr id="16" name="Text 8"/>
          <p:cNvSpPr/>
          <p:nvPr/>
        </p:nvSpPr>
        <p:spPr>
          <a:xfrm>
            <a:off x="7479268" y="4850963"/>
            <a:ext cx="5545217" cy="315754"/>
          </a:xfrm>
          <a:prstGeom prst="rect">
            <a:avLst/>
          </a:prstGeom>
          <a:noFill/>
          <a:ln/>
        </p:spPr>
        <p:txBody>
          <a:bodyPr wrap="none" lIns="0" tIns="0" rIns="0" bIns="0" rtlCol="0" anchor="t"/>
          <a:lstStyle/>
          <a:p>
            <a:pPr algn="l" indent="0" marL="0">
              <a:lnSpc>
                <a:spcPts val="2450"/>
              </a:lnSpc>
              <a:buNone/>
            </a:pPr>
            <a:r>
              <a:rPr lang="en-US" sz="1550" dirty="0">
                <a:solidFill>
                  <a:srgbClr val="C7CDD6"/>
                </a:solidFill>
                <a:latin typeface="Inter" pitchFamily="34" charset="0"/>
                <a:ea typeface="Inter" pitchFamily="34" charset="-122"/>
                <a:cs typeface="Inter" pitchFamily="34" charset="-120"/>
              </a:rPr>
              <a:t>Deployed as an accessible tool for healthcare professionals</a:t>
            </a:r>
            <a:endParaRPr lang="en-US" sz="1550" dirty="0"/>
          </a:p>
        </p:txBody>
      </p:sp>
      <p:sp>
        <p:nvSpPr>
          <p:cNvPr id="17" name="Text 9"/>
          <p:cNvSpPr/>
          <p:nvPr/>
        </p:nvSpPr>
        <p:spPr>
          <a:xfrm>
            <a:off x="690801" y="5586055"/>
            <a:ext cx="13248799" cy="631507"/>
          </a:xfrm>
          <a:prstGeom prst="rect">
            <a:avLst/>
          </a:prstGeom>
          <a:noFill/>
          <a:ln/>
        </p:spPr>
        <p:txBody>
          <a:bodyPr wrap="square" lIns="0" tIns="0" rIns="0" bIns="0" rtlCol="0" anchor="t"/>
          <a:lstStyle/>
          <a:p>
            <a:pPr algn="l" indent="0" marL="0">
              <a:lnSpc>
                <a:spcPts val="2450"/>
              </a:lnSpc>
              <a:buNone/>
            </a:pPr>
            <a:r>
              <a:rPr lang="en-US" sz="1550" dirty="0">
                <a:solidFill>
                  <a:srgbClr val="C7CDD6"/>
                </a:solidFill>
                <a:latin typeface="Inter" pitchFamily="34" charset="0"/>
                <a:ea typeface="Inter" pitchFamily="34" charset="-122"/>
                <a:cs typeface="Inter" pitchFamily="34" charset="-120"/>
              </a:rPr>
              <a:t>The HealthCare Predictive Analysis project successfully developed a model that can identify cardiovascular disease risk with 74% accuracy. Blood pressure measurements (systolic, diastolic, MAP, and pulse pressure) emerged as the strongest predictors, followed by age and BMI.</a:t>
            </a:r>
            <a:endParaRPr lang="en-US" sz="1550" dirty="0"/>
          </a:p>
        </p:txBody>
      </p:sp>
      <p:sp>
        <p:nvSpPr>
          <p:cNvPr id="18" name="Text 10"/>
          <p:cNvSpPr/>
          <p:nvPr/>
        </p:nvSpPr>
        <p:spPr>
          <a:xfrm>
            <a:off x="690801" y="6439614"/>
            <a:ext cx="13248799" cy="947261"/>
          </a:xfrm>
          <a:prstGeom prst="rect">
            <a:avLst/>
          </a:prstGeom>
          <a:noFill/>
          <a:ln/>
        </p:spPr>
        <p:txBody>
          <a:bodyPr wrap="square" lIns="0" tIns="0" rIns="0" bIns="0" rtlCol="0" anchor="t"/>
          <a:lstStyle/>
          <a:p>
            <a:pPr algn="l" indent="0" marL="0">
              <a:lnSpc>
                <a:spcPts val="2450"/>
              </a:lnSpc>
              <a:buNone/>
            </a:pPr>
            <a:r>
              <a:rPr lang="en-US" sz="1550" dirty="0">
                <a:solidFill>
                  <a:srgbClr val="C7CDD6"/>
                </a:solidFill>
                <a:latin typeface="Inter" pitchFamily="34" charset="0"/>
                <a:ea typeface="Inter" pitchFamily="34" charset="-122"/>
                <a:cs typeface="Inter" pitchFamily="34" charset="-120"/>
              </a:rPr>
              <a:t>Future work could include incorporating additional biomarkers, expanding the dataset with more diverse populations, and developing more sophisticated ensemble models to further improve prediction accuracy. The current implementation provides a solid foundation for clinical decision support in cardiovascular risk assessment.</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2025-04-26T17:31:18Z</dcterms:created>
  <dcterms:modified xsi:type="dcterms:W3CDTF">2025-04-26T17:31:18Z</dcterms:modified>
</cp:coreProperties>
</file>